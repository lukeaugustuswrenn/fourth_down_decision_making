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the project as a coaching decision study, not simply a charting exercise. Explain that the objective is to understand how college football teams make fourth-down decisions, where conservative behavior shows up most clearly, and how Notre Dame compares to the national FBS baseline. Emphasize the scale: more than 822,000 plays across three seasons. This helps establish credibility before getting into the specific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fourth-down decisions are valuable analytically because they are discrete, observable choices. Every play can be classified as a punt, field goal, or go-for-it decision. This gives us a clean way to compare coaching behavior. Point out that this version intentionally stays descriptive: the goal is to establish a reliable baseline before adding expected value or machine learning in later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data construction briefly. Mention that the dataset begins with all plays, but the analysis narrows to fourth-down decisions. Non-decision events like penalties and timeouts are excluded to avoid polluting the denominator. Success is only calculated for go-for-it plays. The Aggressiveness Index is a first-pass, interpretable metric: it adjusts for the two most important situational factors in Version 1, distance and field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first major national pattern. Point to the high go-for-it share on fourth-and-one. Then emphasize how quickly aggression falls once the distance moves beyond two yards. The core message is not that coaches are irrational; it is that behavior changes sharply at a threshold. This provides a simple, memorable opening insight: short yardage invites aggression, but moderate yardage quickly brings back conservatism.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anchor slides. Explain that extreme field positions behave as expected: own territory leads to punts, red zone often leads to field goals. The important middle ground is midfield, where the offense has enough field position to consider aggression but teams still punt nearly three quarters of the time. Use this slide to establish the core inefficiency theme for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what teams do with what happens when they go. Be careful with the wording: do not say teams should always go for it because this chart does not account for all context. Instead, say the observed success rates suggest some situations may be underutilized, especially fourth-and-three to four. This gives the project a prescriptive edge without overstating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from national behavior to the Notre Dame case study. The key number is midfield go rate: Notre Dame is meaningfully above the national average. This is important because midfield was the main conservative zone nationally. The takeaway is that Notre Dame is not merely more aggressive overall; it is more aggressive in a strategically important region of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adds nuance. Notre Dame is very aggressive on fourth-and-one and fourth-and-two, but the profile is not simply “go for everything.” At longer distances Notre Dame becomes more conservative. This matters because it supports a more mature interpretation: ND appears to be selectively aggressive in situations where the odds are more favorable.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Aggressiveness Index. Explain that raw go rate alone can be misleading because some teams face different mixes of distances and field positions. The index adjusts for distance bucket and field zone, then asks whether the team goes more often than expected. Mention Baylor as the top-ranked team, but emphasize that the metric is Version 1 and intentionally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carefully. Conservative teams are not necessarily “bad” or wrong. The point is that their observed choices are below what the national baseline would predict in similar distance and field-position situations. This helps frame the index as a behavioral profile rather than a value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resolves a potential tension. Earlier slides showed Notre Dame being aggressive in midfield and short yardage. Here, the broader context-adjusted ranking shows Notre Dame is only modestly above expectation overall. That is not a contradiction; it means Notre Dame’s aggression is targeted rather than extreme.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actual and expected rates matter. A team can have a high raw go rate because it faces more short-yardage or favorable field-position situations. The expected rate controls for that situation mix. Notre Dame’s actual rate is only slightly above expected, while Michigan’s is well below expected, which explains the ranking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summarizing the major themes. The model of the presentation is: national behavior, Notre Dame comparison, then team-level ranking. Emphasize that Version 1 is intentionally interpretable. It gives a clean descriptive foundation and a simple benchmark for team behavior. If there is time, mention the next logical step: expected value modeling or a coach-facing decision-support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D_MASTER">
    <p:bg>
      <p:bgPr>
        <a:solidFill>
          <a:srgbClr val="0C234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85800" y="1097280"/>
            <a:ext cx="7680960" cy="2103120"/>
          </a:xfrm>
          <a:prstGeom prst="rect">
            <a:avLst/>
          </a:prstGeom>
          <a:noFill/>
          <a:ln/>
        </p:spPr>
        <p:txBody>
          <a:bodyPr wrap="square" lIns="0" tIns="0" rIns="0" bIns="0" rtlCol="0" anchor="ctr">
            <a:normAutofit/>
          </a:bodyPr>
          <a:lstStyle/>
          <a:p>
            <a:pPr indent="0" marL="0">
              <a:buNone/>
            </a:pPr>
            <a:r>
              <a:rPr lang="en-US" sz="3300" b="1" dirty="0">
                <a:solidFill>
                  <a:srgbClr val="C99700"/>
                </a:solidFill>
                <a:latin typeface="Aptos Display" pitchFamily="34" charset="0"/>
                <a:ea typeface="Aptos Display" pitchFamily="34" charset="-122"/>
                <a:cs typeface="Aptos Display" pitchFamily="34" charset="-120"/>
              </a:rPr>
              <a:t>Modeling Fourth-Down</a:t>
            </a:r>
            <a:endParaRPr lang="en-US" sz="3300" dirty="0"/>
          </a:p>
          <a:p>
            <a:pPr indent="0" marL="0">
              <a:buNone/>
            </a:pPr>
            <a:r>
              <a:rPr lang="en-US" sz="3300" b="1" dirty="0">
                <a:solidFill>
                  <a:srgbClr val="C99700"/>
                </a:solidFill>
                <a:latin typeface="Aptos Display" pitchFamily="34" charset="0"/>
                <a:ea typeface="Aptos Display" pitchFamily="34" charset="-122"/>
                <a:cs typeface="Aptos Display" pitchFamily="34" charset="-120"/>
              </a:rPr>
              <a:t>Decision-Making in</a:t>
            </a:r>
            <a:endParaRPr lang="en-US" sz="3300" dirty="0"/>
          </a:p>
          <a:p>
            <a:pPr indent="0" marL="0">
              <a:buNone/>
            </a:pPr>
            <a:r>
              <a:rPr lang="en-US" sz="3300" b="1" dirty="0">
                <a:solidFill>
                  <a:srgbClr val="C99700"/>
                </a:solidFill>
                <a:latin typeface="Aptos Display" pitchFamily="34" charset="0"/>
                <a:ea typeface="Aptos Display" pitchFamily="34" charset="-122"/>
                <a:cs typeface="Aptos Display" pitchFamily="34" charset="-120"/>
              </a:rPr>
              <a:t>College Football</a:t>
            </a:r>
            <a:endParaRPr lang="en-US" sz="3300" dirty="0"/>
          </a:p>
        </p:txBody>
      </p:sp>
      <p:sp>
        <p:nvSpPr>
          <p:cNvPr id="3" name="Shape 1"/>
          <p:cNvSpPr/>
          <p:nvPr/>
        </p:nvSpPr>
        <p:spPr>
          <a:xfrm>
            <a:off x="713232" y="3493008"/>
            <a:ext cx="3886200" cy="0"/>
          </a:xfrm>
          <a:prstGeom prst="line">
            <a:avLst/>
          </a:prstGeom>
          <a:noFill/>
          <a:ln w="38100">
            <a:solidFill>
              <a:srgbClr val="C99700"/>
            </a:solidFill>
            <a:prstDash val="solid"/>
          </a:ln>
        </p:spPr>
      </p:sp>
      <p:sp>
        <p:nvSpPr>
          <p:cNvPr id="4" name="Text 2"/>
          <p:cNvSpPr/>
          <p:nvPr/>
        </p:nvSpPr>
        <p:spPr>
          <a:xfrm>
            <a:off x="731520" y="3749040"/>
            <a:ext cx="6675120" cy="640080"/>
          </a:xfrm>
          <a:prstGeom prst="rect">
            <a:avLst/>
          </a:prstGeom>
          <a:noFill/>
          <a:ln/>
        </p:spPr>
        <p:txBody>
          <a:bodyPr wrap="square" lIns="0" tIns="0" rIns="0" bIns="0" rtlCol="0" anchor="ctr"/>
          <a:lstStyle/>
          <a:p>
            <a:pPr indent="0" marL="0">
              <a:buNone/>
            </a:pPr>
            <a:r>
              <a:rPr lang="en-US" sz="1600" dirty="0">
                <a:solidFill>
                  <a:srgbClr val="FFFFFF"/>
                </a:solidFill>
              </a:rPr>
              <a:t>A three-season analysis of FBS fourth-down behavior,</a:t>
            </a:r>
            <a:endParaRPr lang="en-US" sz="1600" dirty="0"/>
          </a:p>
          <a:p>
            <a:pPr indent="0" marL="0">
              <a:buNone/>
            </a:pPr>
            <a:r>
              <a:rPr lang="en-US" sz="1600" dirty="0">
                <a:solidFill>
                  <a:srgbClr val="FFFFFF"/>
                </a:solidFill>
              </a:rPr>
              <a:t>Notre Dame tendencies, and team aggressiveness</a:t>
            </a:r>
            <a:endParaRPr lang="en-US" sz="1600" dirty="0"/>
          </a:p>
        </p:txBody>
      </p:sp>
      <p:sp>
        <p:nvSpPr>
          <p:cNvPr id="5" name="Text 3"/>
          <p:cNvSpPr/>
          <p:nvPr/>
        </p:nvSpPr>
        <p:spPr>
          <a:xfrm>
            <a:off x="8732520" y="1353312"/>
            <a:ext cx="2514600" cy="594360"/>
          </a:xfrm>
          <a:prstGeom prst="rect">
            <a:avLst/>
          </a:prstGeom>
          <a:noFill/>
          <a:ln/>
        </p:spPr>
        <p:txBody>
          <a:bodyPr wrap="square" lIns="0" tIns="0" rIns="0" bIns="0" rtlCol="0" anchor="ctr"/>
          <a:lstStyle/>
          <a:p>
            <a:pPr algn="ctr" indent="0" marL="0">
              <a:buNone/>
            </a:pPr>
            <a:r>
              <a:rPr lang="en-US" sz="3700" b="1" dirty="0">
                <a:solidFill>
                  <a:srgbClr val="C99700"/>
                </a:solidFill>
                <a:latin typeface="Aptos Display" pitchFamily="34" charset="0"/>
                <a:ea typeface="Aptos Display" pitchFamily="34" charset="-122"/>
                <a:cs typeface="Aptos Display" pitchFamily="34" charset="-120"/>
              </a:rPr>
              <a:t>822,703</a:t>
            </a:r>
            <a:endParaRPr lang="en-US" sz="3700" dirty="0"/>
          </a:p>
        </p:txBody>
      </p:sp>
      <p:sp>
        <p:nvSpPr>
          <p:cNvPr id="6" name="Text 4"/>
          <p:cNvSpPr/>
          <p:nvPr/>
        </p:nvSpPr>
        <p:spPr>
          <a:xfrm>
            <a:off x="8732520" y="2039112"/>
            <a:ext cx="2514600" cy="731520"/>
          </a:xfrm>
          <a:prstGeom prst="rect">
            <a:avLst/>
          </a:prstGeom>
          <a:noFill/>
          <a:ln/>
        </p:spPr>
        <p:txBody>
          <a:bodyPr wrap="square" lIns="0" tIns="0" rIns="0" bIns="0" rtlCol="0" anchor="ctr">
            <a:normAutofit/>
          </a:bodyPr>
          <a:lstStyle/>
          <a:p>
            <a:pPr algn="ctr" indent="0" marL="0">
              <a:buNone/>
            </a:pPr>
            <a:r>
              <a:rPr lang="en-US" sz="1150" dirty="0">
                <a:solidFill>
                  <a:srgbClr val="FFFFFF"/>
                </a:solidFill>
                <a:latin typeface="Aptos" pitchFamily="34" charset="0"/>
                <a:ea typeface="Aptos" pitchFamily="34" charset="-122"/>
                <a:cs typeface="Aptos" pitchFamily="34" charset="-120"/>
              </a:rPr>
              <a:t>plays collected from 2023–2025</a:t>
            </a:r>
            <a:endParaRPr lang="en-US" sz="1150" dirty="0"/>
          </a:p>
        </p:txBody>
      </p:sp>
      <p:sp>
        <p:nvSpPr>
          <p:cNvPr id="7" name="Text 5"/>
          <p:cNvSpPr/>
          <p:nvPr/>
        </p:nvSpPr>
        <p:spPr>
          <a:xfrm>
            <a:off x="8732520" y="3154680"/>
            <a:ext cx="2514600" cy="594360"/>
          </a:xfrm>
          <a:prstGeom prst="rect">
            <a:avLst/>
          </a:prstGeom>
          <a:noFill/>
          <a:ln/>
        </p:spPr>
        <p:txBody>
          <a:bodyPr wrap="square" lIns="0" tIns="0" rIns="0" bIns="0" rtlCol="0" anchor="ctr"/>
          <a:lstStyle/>
          <a:p>
            <a:pPr algn="ctr" indent="0" marL="0">
              <a:buNone/>
            </a:pPr>
            <a:r>
              <a:rPr lang="en-US" sz="3700" b="1" dirty="0">
                <a:solidFill>
                  <a:srgbClr val="C99700"/>
                </a:solidFill>
                <a:latin typeface="Aptos Display" pitchFamily="34" charset="0"/>
                <a:ea typeface="Aptos Display" pitchFamily="34" charset="-122"/>
                <a:cs typeface="Aptos Display" pitchFamily="34" charset="-120"/>
              </a:rPr>
              <a:t>FBS-only</a:t>
            </a:r>
            <a:endParaRPr lang="en-US" sz="3700" dirty="0"/>
          </a:p>
        </p:txBody>
      </p:sp>
      <p:sp>
        <p:nvSpPr>
          <p:cNvPr id="8" name="Text 6"/>
          <p:cNvSpPr/>
          <p:nvPr/>
        </p:nvSpPr>
        <p:spPr>
          <a:xfrm>
            <a:off x="8732520" y="3840480"/>
            <a:ext cx="2514600" cy="731520"/>
          </a:xfrm>
          <a:prstGeom prst="rect">
            <a:avLst/>
          </a:prstGeom>
          <a:noFill/>
          <a:ln/>
        </p:spPr>
        <p:txBody>
          <a:bodyPr wrap="square" lIns="0" tIns="0" rIns="0" bIns="0" rtlCol="0" anchor="ctr">
            <a:normAutofit/>
          </a:bodyPr>
          <a:lstStyle/>
          <a:p>
            <a:pPr algn="ctr" indent="0" marL="0">
              <a:buNone/>
            </a:pPr>
            <a:r>
              <a:rPr lang="en-US" sz="1150" dirty="0">
                <a:solidFill>
                  <a:srgbClr val="FFFFFF"/>
                </a:solidFill>
                <a:latin typeface="Aptos" pitchFamily="34" charset="0"/>
                <a:ea typeface="Aptos" pitchFamily="34" charset="-122"/>
                <a:cs typeface="Aptos" pitchFamily="34" charset="-120"/>
              </a:rPr>
              <a:t>team rankings and benchmark comparisons</a:t>
            </a:r>
            <a:endParaRPr lang="en-US" sz="1150" dirty="0"/>
          </a:p>
        </p:txBody>
      </p:sp>
      <p:sp>
        <p:nvSpPr>
          <p:cNvPr id="9" name="Text 7"/>
          <p:cNvSpPr/>
          <p:nvPr/>
        </p:nvSpPr>
        <p:spPr>
          <a:xfrm>
            <a:off x="749808" y="5577840"/>
            <a:ext cx="2743200" cy="320040"/>
          </a:xfrm>
          <a:prstGeom prst="rect">
            <a:avLst/>
          </a:prstGeom>
          <a:noFill/>
          <a:ln/>
        </p:spPr>
        <p:txBody>
          <a:bodyPr wrap="square" lIns="0" tIns="0" rIns="0" bIns="0" rtlCol="0" anchor="ctr"/>
          <a:lstStyle/>
          <a:p>
            <a:pPr indent="0" marL="0">
              <a:buNone/>
            </a:pPr>
            <a:r>
              <a:rPr lang="en-US" sz="1500" b="1" dirty="0">
                <a:solidFill>
                  <a:srgbClr val="FFFFFF"/>
                </a:solidFill>
              </a:rPr>
              <a:t>Luke Wrenn</a:t>
            </a:r>
            <a:endParaRPr lang="en-US" sz="1500" dirty="0"/>
          </a:p>
        </p:txBody>
      </p:sp>
      <p:sp>
        <p:nvSpPr>
          <p:cNvPr id="10" name="Shape 8"/>
          <p:cNvSpPr/>
          <p:nvPr/>
        </p:nvSpPr>
        <p:spPr>
          <a:xfrm>
            <a:off x="548640" y="6364224"/>
            <a:ext cx="11109960" cy="0"/>
          </a:xfrm>
          <a:prstGeom prst="line">
            <a:avLst/>
          </a:prstGeom>
          <a:noFill/>
          <a:ln w="10160">
            <a:solidFill>
              <a:srgbClr val="C99700">
                <a:alpha val="80000"/>
              </a:srgbClr>
            </a:solidFill>
            <a:prstDash val="solid"/>
          </a:ln>
        </p:spPr>
      </p:sp>
      <p:sp>
        <p:nvSpPr>
          <p:cNvPr id="11" name="Text 9"/>
          <p:cNvSpPr/>
          <p:nvPr/>
        </p:nvSpPr>
        <p:spPr>
          <a:xfrm>
            <a:off x="594360" y="6446520"/>
            <a:ext cx="9875520" cy="201168"/>
          </a:xfrm>
          <a:prstGeom prst="rect">
            <a:avLst/>
          </a:prstGeom>
          <a:noFill/>
          <a:ln/>
        </p:spPr>
        <p:txBody>
          <a:bodyPr wrap="square" lIns="0" tIns="0" rIns="0" bIns="0" rtlCol="0" anchor="ctr"/>
          <a:lstStyle/>
          <a:p>
            <a:pPr indent="0" marL="0">
              <a:buNone/>
            </a:pPr>
            <a:r>
              <a:rPr lang="en-US" sz="780" dirty="0">
                <a:solidFill>
                  <a:srgbClr val="D6DEE8"/>
                </a:solidFill>
                <a:latin typeface="Aptos" pitchFamily="34" charset="0"/>
                <a:ea typeface="Aptos" pitchFamily="34" charset="-122"/>
                <a:cs typeface="Aptos" pitchFamily="34" charset="-120"/>
              </a:rPr>
              <a:t>2023–2025 FBS play-by-play • CollegeFootballData • Fourth-down decisions only</a:t>
            </a:r>
            <a:endParaRPr lang="en-US" sz="780" dirty="0"/>
          </a:p>
        </p:txBody>
      </p:sp>
      <p:sp>
        <p:nvSpPr>
          <p:cNvPr id="12" name="Text 10"/>
          <p:cNvSpPr/>
          <p:nvPr/>
        </p:nvSpPr>
        <p:spPr>
          <a:xfrm>
            <a:off x="11201400" y="6419088"/>
            <a:ext cx="457200" cy="228600"/>
          </a:xfrm>
          <a:prstGeom prst="rect">
            <a:avLst/>
          </a:prstGeom>
          <a:noFill/>
          <a:ln/>
        </p:spPr>
        <p:txBody>
          <a:bodyPr wrap="square" lIns="0" tIns="0" rIns="0" bIns="0" rtlCol="0" anchor="ctr"/>
          <a:lstStyle/>
          <a:p>
            <a:pPr algn="r" indent="0" marL="0">
              <a:buNone/>
            </a:pPr>
            <a:r>
              <a:rPr lang="en-US" sz="800" b="1" dirty="0">
                <a:solidFill>
                  <a:srgbClr val="C99700"/>
                </a:solidFill>
                <a:latin typeface="Aptos" pitchFamily="34" charset="0"/>
                <a:ea typeface="Aptos" pitchFamily="34" charset="-122"/>
                <a:cs typeface="Aptos" pitchFamily="34" charset="-120"/>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109728"/>
            <a:ext cx="4114800" cy="164592"/>
          </a:xfrm>
          <a:prstGeom prst="rect">
            <a:avLst/>
          </a:prstGeom>
          <a:noFill/>
          <a:ln/>
        </p:spPr>
        <p:txBody>
          <a:bodyPr wrap="square" lIns="0" tIns="0" rIns="0" bIns="0" rtlCol="0" anchor="ctr"/>
          <a:lstStyle/>
          <a:p>
            <a:pPr indent="0" marL="0">
              <a:buNone/>
            </a:pPr>
            <a:r>
              <a:rPr lang="en-US" sz="750" b="1" dirty="0">
                <a:solidFill>
                  <a:srgbClr val="CCD6E0"/>
                </a:solidFill>
              </a:rPr>
              <a:t>RESEARCH QUESTION</a:t>
            </a:r>
            <a:endParaRPr lang="en-US" sz="750" dirty="0"/>
          </a:p>
        </p:txBody>
      </p:sp>
      <p:sp>
        <p:nvSpPr>
          <p:cNvPr id="3" name="Text 1"/>
          <p:cNvSpPr/>
          <p:nvPr/>
        </p:nvSpPr>
        <p:spPr>
          <a:xfrm>
            <a:off x="566928" y="310896"/>
            <a:ext cx="10881360" cy="384048"/>
          </a:xfrm>
          <a:prstGeom prst="rect">
            <a:avLst/>
          </a:prstGeom>
          <a:noFill/>
          <a:ln/>
        </p:spPr>
        <p:txBody>
          <a:bodyPr wrap="square" lIns="0" tIns="0" rIns="0" bIns="0" rtlCol="0" anchor="ctr">
            <a:normAutofit/>
          </a:bodyPr>
          <a:lstStyle/>
          <a:p>
            <a:pPr indent="0" marL="0">
              <a:buNone/>
            </a:pPr>
            <a:r>
              <a:rPr lang="en-US" sz="2350" b="1" dirty="0">
                <a:solidFill>
                  <a:srgbClr val="C99700"/>
                </a:solidFill>
                <a:latin typeface="Aptos Display" pitchFamily="34" charset="0"/>
                <a:ea typeface="Aptos Display" pitchFamily="34" charset="-122"/>
                <a:cs typeface="Aptos Display" pitchFamily="34" charset="-120"/>
              </a:rPr>
              <a:t>When do college football teams choose aggression on fourth down?</a:t>
            </a:r>
            <a:endParaRPr lang="en-US" sz="2350" dirty="0"/>
          </a:p>
        </p:txBody>
      </p:sp>
      <p:sp>
        <p:nvSpPr>
          <p:cNvPr id="4" name="Text 2"/>
          <p:cNvSpPr/>
          <p:nvPr/>
        </p:nvSpPr>
        <p:spPr>
          <a:xfrm>
            <a:off x="585216" y="768096"/>
            <a:ext cx="10698480" cy="347472"/>
          </a:xfrm>
          <a:prstGeom prst="rect">
            <a:avLst/>
          </a:prstGeom>
          <a:noFill/>
          <a:ln/>
        </p:spPr>
        <p:txBody>
          <a:bodyPr wrap="square" lIns="0" tIns="0" rIns="0" bIns="0" rtlCol="0" anchor="ctr">
            <a:normAutofit/>
          </a:bodyPr>
          <a:lstStyle/>
          <a:p>
            <a:pPr indent="0" marL="0">
              <a:buNone/>
            </a:pPr>
            <a:r>
              <a:rPr lang="en-US" sz="1150" dirty="0">
                <a:solidFill>
                  <a:srgbClr val="FFFFFF"/>
                </a:solidFill>
                <a:latin typeface="Aptos" pitchFamily="34" charset="0"/>
                <a:ea typeface="Aptos" pitchFamily="34" charset="-122"/>
                <a:cs typeface="Aptos" pitchFamily="34" charset="-120"/>
              </a:rPr>
              <a:t>Fourth down is one of the cleanest places to observe coaching risk tolerance.</a:t>
            </a:r>
            <a:endParaRPr lang="en-US" sz="1150" dirty="0"/>
          </a:p>
        </p:txBody>
      </p:sp>
      <p:sp>
        <p:nvSpPr>
          <p:cNvPr id="5" name="Shape 3"/>
          <p:cNvSpPr/>
          <p:nvPr/>
        </p:nvSpPr>
        <p:spPr>
          <a:xfrm>
            <a:off x="548640" y="6364224"/>
            <a:ext cx="11109960" cy="0"/>
          </a:xfrm>
          <a:prstGeom prst="line">
            <a:avLst/>
          </a:prstGeom>
          <a:noFill/>
          <a:ln w="10160">
            <a:solidFill>
              <a:srgbClr val="C99700">
                <a:alpha val="80000"/>
              </a:srgbClr>
            </a:solidFill>
            <a:prstDash val="solid"/>
          </a:ln>
        </p:spPr>
      </p:sp>
      <p:sp>
        <p:nvSpPr>
          <p:cNvPr id="6" name="Text 4"/>
          <p:cNvSpPr/>
          <p:nvPr/>
        </p:nvSpPr>
        <p:spPr>
          <a:xfrm>
            <a:off x="594360" y="6446520"/>
            <a:ext cx="9875520" cy="201168"/>
          </a:xfrm>
          <a:prstGeom prst="rect">
            <a:avLst/>
          </a:prstGeom>
          <a:noFill/>
          <a:ln/>
        </p:spPr>
        <p:txBody>
          <a:bodyPr wrap="square" lIns="0" tIns="0" rIns="0" bIns="0" rtlCol="0" anchor="ctr"/>
          <a:lstStyle/>
          <a:p>
            <a:pPr indent="0" marL="0">
              <a:buNone/>
            </a:pPr>
            <a:r>
              <a:rPr lang="en-US" sz="780" dirty="0">
                <a:solidFill>
                  <a:srgbClr val="D6DEE8"/>
                </a:solidFill>
                <a:latin typeface="Aptos" pitchFamily="34" charset="0"/>
                <a:ea typeface="Aptos" pitchFamily="34" charset="-122"/>
                <a:cs typeface="Aptos" pitchFamily="34" charset="-120"/>
              </a:rPr>
              <a:t>2023–2025 FBS play-by-play • CollegeFootballData • Fourth-down decisions only</a:t>
            </a:r>
            <a:endParaRPr lang="en-US" sz="780" dirty="0"/>
          </a:p>
        </p:txBody>
      </p:sp>
      <p:sp>
        <p:nvSpPr>
          <p:cNvPr id="7" name="Text 5"/>
          <p:cNvSpPr/>
          <p:nvPr/>
        </p:nvSpPr>
        <p:spPr>
          <a:xfrm>
            <a:off x="11201400" y="6419088"/>
            <a:ext cx="457200" cy="228600"/>
          </a:xfrm>
          <a:prstGeom prst="rect">
            <a:avLst/>
          </a:prstGeom>
          <a:noFill/>
          <a:ln/>
        </p:spPr>
        <p:txBody>
          <a:bodyPr wrap="square" lIns="0" tIns="0" rIns="0" bIns="0" rtlCol="0" anchor="ctr"/>
          <a:lstStyle/>
          <a:p>
            <a:pPr algn="r" indent="0" marL="0">
              <a:buNone/>
            </a:pPr>
            <a:r>
              <a:rPr lang="en-US" sz="800" b="1" dirty="0">
                <a:solidFill>
                  <a:srgbClr val="C99700"/>
                </a:solidFill>
                <a:latin typeface="Aptos" pitchFamily="34" charset="0"/>
                <a:ea typeface="Aptos" pitchFamily="34" charset="-122"/>
                <a:cs typeface="Aptos" pitchFamily="34" charset="-120"/>
              </a:rPr>
              <a:t>02</a:t>
            </a:r>
            <a:endParaRPr lang="en-US" sz="800" dirty="0"/>
          </a:p>
        </p:txBody>
      </p:sp>
      <p:sp>
        <p:nvSpPr>
          <p:cNvPr id="8" name="Text 6"/>
          <p:cNvSpPr/>
          <p:nvPr/>
        </p:nvSpPr>
        <p:spPr>
          <a:xfrm>
            <a:off x="685800" y="1417320"/>
            <a:ext cx="10515600" cy="2011680"/>
          </a:xfrm>
          <a:prstGeom prst="rect">
            <a:avLst/>
          </a:prstGeom>
          <a:noFill/>
          <a:ln/>
        </p:spPr>
        <p:txBody>
          <a:bodyPr wrap="square" lIns="635" tIns="635" rIns="635" bIns="635" rtlCol="0" anchor="t">
            <a:normAutofit/>
          </a:bodyPr>
          <a:lstStyle/>
          <a:p>
            <a:pPr indent="0" marL="0">
              <a:buNone/>
            </a:pPr>
            <a:r>
              <a:rPr lang="en-US" sz="1280" dirty="0">
                <a:solidFill>
                  <a:srgbClr val="FFFFFF"/>
                </a:solidFill>
                <a:latin typeface="Aptos" pitchFamily="34" charset="0"/>
                <a:ea typeface="Aptos" pitchFamily="34" charset="-122"/>
                <a:cs typeface="Aptos" pitchFamily="34" charset="-120"/>
              </a:rPr>
              <a:t>• Fourth-down choices force coaches to choose between field position, points, and possession.
</a:t>
            </a:r>
            <a:pPr indent="0" marL="0">
              <a:buNone/>
            </a:pPr>
            <a:r>
              <a:rPr lang="en-US" sz="1280" dirty="0">
                <a:solidFill>
                  <a:srgbClr val="FFFFFF"/>
                </a:solidFill>
                <a:latin typeface="Aptos" pitchFamily="34" charset="0"/>
                <a:ea typeface="Aptos" pitchFamily="34" charset="-122"/>
                <a:cs typeface="Aptos" pitchFamily="34" charset="-120"/>
              </a:rPr>
              <a:t>• The same distance can produce different decisions depending on field position and team philosophy.
</a:t>
            </a:r>
            <a:pPr indent="0" marL="0">
              <a:buNone/>
            </a:pPr>
            <a:r>
              <a:rPr lang="en-US" sz="1280" dirty="0">
                <a:solidFill>
                  <a:srgbClr val="FFFFFF"/>
                </a:solidFill>
                <a:latin typeface="Aptos" pitchFamily="34" charset="0"/>
                <a:ea typeface="Aptos" pitchFamily="34" charset="-122"/>
                <a:cs typeface="Aptos" pitchFamily="34" charset="-120"/>
              </a:rPr>
              <a:t>• This Version 1 analysis focuses on observable behavior and simple context-adjusted comparisons.</a:t>
            </a:r>
            <a:endParaRPr lang="en-US" sz="1280" dirty="0"/>
          </a:p>
        </p:txBody>
      </p:sp>
      <p:sp>
        <p:nvSpPr>
          <p:cNvPr id="9" name="Shape 7"/>
          <p:cNvSpPr/>
          <p:nvPr/>
        </p:nvSpPr>
        <p:spPr>
          <a:xfrm>
            <a:off x="685800" y="3794760"/>
            <a:ext cx="5074920" cy="713232"/>
          </a:xfrm>
          <a:prstGeom prst="roundRect">
            <a:avLst>
              <a:gd name="adj" fmla="val 10256"/>
            </a:avLst>
          </a:prstGeom>
          <a:solidFill>
            <a:srgbClr val="152D4B"/>
          </a:solidFill>
          <a:ln w="13970">
            <a:solidFill>
              <a:srgbClr val="C99700">
                <a:alpha val="85000"/>
              </a:srgbClr>
            </a:solidFill>
            <a:prstDash val="solid"/>
          </a:ln>
        </p:spPr>
      </p:sp>
      <p:sp>
        <p:nvSpPr>
          <p:cNvPr id="10" name="Text 8"/>
          <p:cNvSpPr/>
          <p:nvPr/>
        </p:nvSpPr>
        <p:spPr>
          <a:xfrm>
            <a:off x="850392" y="3922776"/>
            <a:ext cx="4745736" cy="201168"/>
          </a:xfrm>
          <a:prstGeom prst="rect">
            <a:avLst/>
          </a:prstGeom>
          <a:noFill/>
          <a:ln/>
        </p:spPr>
        <p:txBody>
          <a:bodyPr wrap="square" lIns="0" tIns="0" rIns="0" bIns="0" rtlCol="0" anchor="ctr"/>
          <a:lstStyle/>
          <a:p>
            <a:pPr indent="0" marL="0">
              <a:buNone/>
            </a:pPr>
            <a:r>
              <a:rPr lang="en-US" sz="870" b="1" dirty="0">
                <a:solidFill>
                  <a:srgbClr val="C99700"/>
                </a:solidFill>
              </a:rPr>
              <a:t>INSIGHT</a:t>
            </a:r>
            <a:endParaRPr lang="en-US" sz="870" dirty="0"/>
          </a:p>
        </p:txBody>
      </p:sp>
      <p:sp>
        <p:nvSpPr>
          <p:cNvPr id="11" name="Text 9"/>
          <p:cNvSpPr/>
          <p:nvPr/>
        </p:nvSpPr>
        <p:spPr>
          <a:xfrm>
            <a:off x="850392" y="4178808"/>
            <a:ext cx="474573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The project asks what teams actually do, not what a model says they should do.</a:t>
            </a:r>
            <a:endParaRPr lang="en-US" sz="1220" dirty="0"/>
          </a:p>
        </p:txBody>
      </p:sp>
      <p:sp>
        <p:nvSpPr>
          <p:cNvPr id="12" name="Shape 10"/>
          <p:cNvSpPr/>
          <p:nvPr/>
        </p:nvSpPr>
        <p:spPr>
          <a:xfrm>
            <a:off x="6172200" y="3794760"/>
            <a:ext cx="5074920" cy="713232"/>
          </a:xfrm>
          <a:prstGeom prst="roundRect">
            <a:avLst>
              <a:gd name="adj" fmla="val 10256"/>
            </a:avLst>
          </a:prstGeom>
          <a:solidFill>
            <a:srgbClr val="152D4B"/>
          </a:solidFill>
          <a:ln w="13970">
            <a:solidFill>
              <a:srgbClr val="C99700">
                <a:alpha val="85000"/>
              </a:srgbClr>
            </a:solidFill>
            <a:prstDash val="solid"/>
          </a:ln>
        </p:spPr>
      </p:sp>
      <p:sp>
        <p:nvSpPr>
          <p:cNvPr id="13" name="Text 11"/>
          <p:cNvSpPr/>
          <p:nvPr/>
        </p:nvSpPr>
        <p:spPr>
          <a:xfrm>
            <a:off x="6336792" y="3922776"/>
            <a:ext cx="4745736" cy="201168"/>
          </a:xfrm>
          <a:prstGeom prst="rect">
            <a:avLst/>
          </a:prstGeom>
          <a:noFill/>
          <a:ln/>
        </p:spPr>
        <p:txBody>
          <a:bodyPr wrap="square" lIns="0" tIns="0" rIns="0" bIns="0" rtlCol="0" anchor="ctr"/>
          <a:lstStyle/>
          <a:p>
            <a:pPr indent="0" marL="0">
              <a:buNone/>
            </a:pPr>
            <a:r>
              <a:rPr lang="en-US" sz="870" b="1" dirty="0">
                <a:solidFill>
                  <a:srgbClr val="C99700"/>
                </a:solidFill>
              </a:rPr>
              <a:t>IMPLICATION</a:t>
            </a:r>
            <a:endParaRPr lang="en-US" sz="870" dirty="0"/>
          </a:p>
        </p:txBody>
      </p:sp>
      <p:sp>
        <p:nvSpPr>
          <p:cNvPr id="14" name="Text 12"/>
          <p:cNvSpPr/>
          <p:nvPr/>
        </p:nvSpPr>
        <p:spPr>
          <a:xfrm>
            <a:off x="6336792" y="4178808"/>
            <a:ext cx="474573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This keeps Version 1 focused, explainable, and presentation-ready.</a:t>
            </a:r>
            <a:endParaRPr lang="en-US" sz="12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109728"/>
            <a:ext cx="4114800" cy="164592"/>
          </a:xfrm>
          <a:prstGeom prst="rect">
            <a:avLst/>
          </a:prstGeom>
          <a:noFill/>
          <a:ln/>
        </p:spPr>
        <p:txBody>
          <a:bodyPr wrap="square" lIns="0" tIns="0" rIns="0" bIns="0" rtlCol="0" anchor="ctr"/>
          <a:lstStyle/>
          <a:p>
            <a:pPr indent="0" marL="0">
              <a:buNone/>
            </a:pPr>
            <a:r>
              <a:rPr lang="en-US" sz="750" b="1" dirty="0">
                <a:solidFill>
                  <a:srgbClr val="CCD6E0"/>
                </a:solidFill>
              </a:rPr>
              <a:t>DATA FOUNDATION</a:t>
            </a:r>
            <a:endParaRPr lang="en-US" sz="750" dirty="0"/>
          </a:p>
        </p:txBody>
      </p:sp>
      <p:sp>
        <p:nvSpPr>
          <p:cNvPr id="3" name="Text 1"/>
          <p:cNvSpPr/>
          <p:nvPr/>
        </p:nvSpPr>
        <p:spPr>
          <a:xfrm>
            <a:off x="566928" y="310896"/>
            <a:ext cx="10881360" cy="384048"/>
          </a:xfrm>
          <a:prstGeom prst="rect">
            <a:avLst/>
          </a:prstGeom>
          <a:noFill/>
          <a:ln/>
        </p:spPr>
        <p:txBody>
          <a:bodyPr wrap="square" lIns="0" tIns="0" rIns="0" bIns="0" rtlCol="0" anchor="ctr">
            <a:normAutofit/>
          </a:bodyPr>
          <a:lstStyle/>
          <a:p>
            <a:pPr indent="0" marL="0">
              <a:buNone/>
            </a:pPr>
            <a:r>
              <a:rPr lang="en-US" sz="2350" b="1" dirty="0">
                <a:solidFill>
                  <a:srgbClr val="C99700"/>
                </a:solidFill>
                <a:latin typeface="Aptos Display" pitchFamily="34" charset="0"/>
                <a:ea typeface="Aptos Display" pitchFamily="34" charset="-122"/>
                <a:cs typeface="Aptos Display" pitchFamily="34" charset="-120"/>
              </a:rPr>
              <a:t>Dataset and methodology</a:t>
            </a:r>
            <a:endParaRPr lang="en-US" sz="2350" dirty="0"/>
          </a:p>
        </p:txBody>
      </p:sp>
      <p:sp>
        <p:nvSpPr>
          <p:cNvPr id="4" name="Text 2"/>
          <p:cNvSpPr/>
          <p:nvPr/>
        </p:nvSpPr>
        <p:spPr>
          <a:xfrm>
            <a:off x="585216" y="768096"/>
            <a:ext cx="10698480" cy="347472"/>
          </a:xfrm>
          <a:prstGeom prst="rect">
            <a:avLst/>
          </a:prstGeom>
          <a:noFill/>
          <a:ln/>
        </p:spPr>
        <p:txBody>
          <a:bodyPr wrap="square" lIns="0" tIns="0" rIns="0" bIns="0" rtlCol="0" anchor="ctr">
            <a:normAutofit/>
          </a:bodyPr>
          <a:lstStyle/>
          <a:p>
            <a:pPr indent="0" marL="0">
              <a:buNone/>
            </a:pPr>
            <a:r>
              <a:rPr lang="en-US" sz="1150" dirty="0">
                <a:solidFill>
                  <a:srgbClr val="FFFFFF"/>
                </a:solidFill>
                <a:latin typeface="Aptos" pitchFamily="34" charset="0"/>
                <a:ea typeface="Aptos" pitchFamily="34" charset="-122"/>
                <a:cs typeface="Aptos" pitchFamily="34" charset="-120"/>
              </a:rPr>
              <a:t>A consistent classification pipeline powers all Version 1 findings.</a:t>
            </a:r>
            <a:endParaRPr lang="en-US" sz="1150" dirty="0"/>
          </a:p>
        </p:txBody>
      </p:sp>
      <p:sp>
        <p:nvSpPr>
          <p:cNvPr id="5" name="Shape 3"/>
          <p:cNvSpPr/>
          <p:nvPr/>
        </p:nvSpPr>
        <p:spPr>
          <a:xfrm>
            <a:off x="548640" y="6364224"/>
            <a:ext cx="11109960" cy="0"/>
          </a:xfrm>
          <a:prstGeom prst="line">
            <a:avLst/>
          </a:prstGeom>
          <a:noFill/>
          <a:ln w="10160">
            <a:solidFill>
              <a:srgbClr val="C99700">
                <a:alpha val="80000"/>
              </a:srgbClr>
            </a:solidFill>
            <a:prstDash val="solid"/>
          </a:ln>
        </p:spPr>
      </p:sp>
      <p:sp>
        <p:nvSpPr>
          <p:cNvPr id="6" name="Text 4"/>
          <p:cNvSpPr/>
          <p:nvPr/>
        </p:nvSpPr>
        <p:spPr>
          <a:xfrm>
            <a:off x="594360" y="6446520"/>
            <a:ext cx="9875520" cy="201168"/>
          </a:xfrm>
          <a:prstGeom prst="rect">
            <a:avLst/>
          </a:prstGeom>
          <a:noFill/>
          <a:ln/>
        </p:spPr>
        <p:txBody>
          <a:bodyPr wrap="square" lIns="0" tIns="0" rIns="0" bIns="0" rtlCol="0" anchor="ctr"/>
          <a:lstStyle/>
          <a:p>
            <a:pPr indent="0" marL="0">
              <a:buNone/>
            </a:pPr>
            <a:r>
              <a:rPr lang="en-US" sz="780" dirty="0">
                <a:solidFill>
                  <a:srgbClr val="D6DEE8"/>
                </a:solidFill>
                <a:latin typeface="Aptos" pitchFamily="34" charset="0"/>
                <a:ea typeface="Aptos" pitchFamily="34" charset="-122"/>
                <a:cs typeface="Aptos" pitchFamily="34" charset="-120"/>
              </a:rPr>
              <a:t>2023–2025 FBS play-by-play • CollegeFootballData • Fourth-down decisions only</a:t>
            </a:r>
            <a:endParaRPr lang="en-US" sz="780" dirty="0"/>
          </a:p>
        </p:txBody>
      </p:sp>
      <p:sp>
        <p:nvSpPr>
          <p:cNvPr id="7" name="Text 5"/>
          <p:cNvSpPr/>
          <p:nvPr/>
        </p:nvSpPr>
        <p:spPr>
          <a:xfrm>
            <a:off x="11201400" y="6419088"/>
            <a:ext cx="457200" cy="228600"/>
          </a:xfrm>
          <a:prstGeom prst="rect">
            <a:avLst/>
          </a:prstGeom>
          <a:noFill/>
          <a:ln/>
        </p:spPr>
        <p:txBody>
          <a:bodyPr wrap="square" lIns="0" tIns="0" rIns="0" bIns="0" rtlCol="0" anchor="ctr"/>
          <a:lstStyle/>
          <a:p>
            <a:pPr algn="r" indent="0" marL="0">
              <a:buNone/>
            </a:pPr>
            <a:r>
              <a:rPr lang="en-US" sz="800" b="1" dirty="0">
                <a:solidFill>
                  <a:srgbClr val="C99700"/>
                </a:solidFill>
                <a:latin typeface="Aptos" pitchFamily="34" charset="0"/>
                <a:ea typeface="Aptos" pitchFamily="34" charset="-122"/>
                <a:cs typeface="Aptos" pitchFamily="34" charset="-120"/>
              </a:rPr>
              <a:t>03</a:t>
            </a:r>
            <a:endParaRPr lang="en-US" sz="800" dirty="0"/>
          </a:p>
        </p:txBody>
      </p:sp>
      <p:sp>
        <p:nvSpPr>
          <p:cNvPr id="8" name="Shape 6"/>
          <p:cNvSpPr/>
          <p:nvPr/>
        </p:nvSpPr>
        <p:spPr>
          <a:xfrm>
            <a:off x="685800" y="1353312"/>
            <a:ext cx="2468880" cy="1051560"/>
          </a:xfrm>
          <a:prstGeom prst="roundRect">
            <a:avLst/>
          </a:prstGeom>
          <a:solidFill>
            <a:srgbClr val="102D4D"/>
          </a:solidFill>
          <a:ln w="12700">
            <a:solidFill>
              <a:srgbClr val="C99700">
                <a:alpha val="85000"/>
              </a:srgbClr>
            </a:solidFill>
            <a:prstDash val="solid"/>
          </a:ln>
        </p:spPr>
      </p:sp>
      <p:sp>
        <p:nvSpPr>
          <p:cNvPr id="9" name="Text 7"/>
          <p:cNvSpPr/>
          <p:nvPr/>
        </p:nvSpPr>
        <p:spPr>
          <a:xfrm>
            <a:off x="758952" y="1517904"/>
            <a:ext cx="2322576" cy="384048"/>
          </a:xfrm>
          <a:prstGeom prst="rect">
            <a:avLst/>
          </a:prstGeom>
          <a:noFill/>
          <a:ln/>
        </p:spPr>
        <p:txBody>
          <a:bodyPr wrap="square" lIns="0" tIns="0" rIns="0" bIns="0" rtlCol="0" anchor="ctr">
            <a:normAutofit/>
          </a:bodyPr>
          <a:lstStyle/>
          <a:p>
            <a:pPr algn="ctr" indent="0" marL="0">
              <a:buNone/>
            </a:pPr>
            <a:r>
              <a:rPr lang="en-US" sz="2500" b="1" dirty="0">
                <a:solidFill>
                  <a:srgbClr val="C99700"/>
                </a:solidFill>
                <a:latin typeface="Aptos Display" pitchFamily="34" charset="0"/>
                <a:ea typeface="Aptos Display" pitchFamily="34" charset="-122"/>
                <a:cs typeface="Aptos Display" pitchFamily="34" charset="-120"/>
              </a:rPr>
              <a:t>822,703</a:t>
            </a:r>
            <a:endParaRPr lang="en-US" sz="2500" dirty="0"/>
          </a:p>
        </p:txBody>
      </p:sp>
      <p:sp>
        <p:nvSpPr>
          <p:cNvPr id="10" name="Text 8"/>
          <p:cNvSpPr/>
          <p:nvPr/>
        </p:nvSpPr>
        <p:spPr>
          <a:xfrm>
            <a:off x="813816" y="1956816"/>
            <a:ext cx="2212848" cy="320040"/>
          </a:xfrm>
          <a:prstGeom prst="rect">
            <a:avLst/>
          </a:prstGeom>
          <a:noFill/>
          <a:ln/>
        </p:spPr>
        <p:txBody>
          <a:bodyPr wrap="square" lIns="0" tIns="0" rIns="0" bIns="0" rtlCol="0" anchor="ctr">
            <a:normAutofit/>
          </a:bodyPr>
          <a:lstStyle/>
          <a:p>
            <a:pPr algn="ctr" indent="0" marL="0">
              <a:buNone/>
            </a:pPr>
            <a:r>
              <a:rPr lang="en-US" sz="920" dirty="0">
                <a:solidFill>
                  <a:srgbClr val="FFFFFF"/>
                </a:solidFill>
              </a:rPr>
              <a:t>total plays collected</a:t>
            </a:r>
            <a:endParaRPr lang="en-US" sz="920" dirty="0"/>
          </a:p>
        </p:txBody>
      </p:sp>
      <p:sp>
        <p:nvSpPr>
          <p:cNvPr id="11" name="Shape 9"/>
          <p:cNvSpPr/>
          <p:nvPr/>
        </p:nvSpPr>
        <p:spPr>
          <a:xfrm>
            <a:off x="3383280" y="1353312"/>
            <a:ext cx="2468880" cy="1051560"/>
          </a:xfrm>
          <a:prstGeom prst="roundRect">
            <a:avLst/>
          </a:prstGeom>
          <a:solidFill>
            <a:srgbClr val="102D4D"/>
          </a:solidFill>
          <a:ln w="12700">
            <a:solidFill>
              <a:srgbClr val="C99700">
                <a:alpha val="85000"/>
              </a:srgbClr>
            </a:solidFill>
            <a:prstDash val="solid"/>
          </a:ln>
        </p:spPr>
      </p:sp>
      <p:sp>
        <p:nvSpPr>
          <p:cNvPr id="12" name="Text 10"/>
          <p:cNvSpPr/>
          <p:nvPr/>
        </p:nvSpPr>
        <p:spPr>
          <a:xfrm>
            <a:off x="3456432" y="1517904"/>
            <a:ext cx="2322576" cy="384048"/>
          </a:xfrm>
          <a:prstGeom prst="rect">
            <a:avLst/>
          </a:prstGeom>
          <a:noFill/>
          <a:ln/>
        </p:spPr>
        <p:txBody>
          <a:bodyPr wrap="square" lIns="0" tIns="0" rIns="0" bIns="0" rtlCol="0" anchor="ctr">
            <a:normAutofit/>
          </a:bodyPr>
          <a:lstStyle/>
          <a:p>
            <a:pPr algn="ctr" indent="0" marL="0">
              <a:buNone/>
            </a:pPr>
            <a:r>
              <a:rPr lang="en-US" sz="2500" b="1" dirty="0">
                <a:solidFill>
                  <a:srgbClr val="C99700"/>
                </a:solidFill>
                <a:latin typeface="Aptos Display" pitchFamily="34" charset="0"/>
                <a:ea typeface="Aptos Display" pitchFamily="34" charset="-122"/>
                <a:cs typeface="Aptos Display" pitchFamily="34" charset="-120"/>
              </a:rPr>
              <a:t>2023–2025</a:t>
            </a:r>
            <a:endParaRPr lang="en-US" sz="2500" dirty="0"/>
          </a:p>
        </p:txBody>
      </p:sp>
      <p:sp>
        <p:nvSpPr>
          <p:cNvPr id="13" name="Text 11"/>
          <p:cNvSpPr/>
          <p:nvPr/>
        </p:nvSpPr>
        <p:spPr>
          <a:xfrm>
            <a:off x="3511296" y="1956816"/>
            <a:ext cx="2212848" cy="320040"/>
          </a:xfrm>
          <a:prstGeom prst="rect">
            <a:avLst/>
          </a:prstGeom>
          <a:noFill/>
          <a:ln/>
        </p:spPr>
        <p:txBody>
          <a:bodyPr wrap="square" lIns="0" tIns="0" rIns="0" bIns="0" rtlCol="0" anchor="ctr">
            <a:normAutofit/>
          </a:bodyPr>
          <a:lstStyle/>
          <a:p>
            <a:pPr algn="ctr" indent="0" marL="0">
              <a:buNone/>
            </a:pPr>
            <a:r>
              <a:rPr lang="en-US" sz="920" dirty="0">
                <a:solidFill>
                  <a:srgbClr val="FFFFFF"/>
                </a:solidFill>
              </a:rPr>
              <a:t>three FBS seasons</a:t>
            </a:r>
            <a:endParaRPr lang="en-US" sz="920" dirty="0"/>
          </a:p>
        </p:txBody>
      </p:sp>
      <p:sp>
        <p:nvSpPr>
          <p:cNvPr id="14" name="Shape 12"/>
          <p:cNvSpPr/>
          <p:nvPr/>
        </p:nvSpPr>
        <p:spPr>
          <a:xfrm>
            <a:off x="6080760" y="1353312"/>
            <a:ext cx="2468880" cy="1051560"/>
          </a:xfrm>
          <a:prstGeom prst="roundRect">
            <a:avLst/>
          </a:prstGeom>
          <a:solidFill>
            <a:srgbClr val="102D4D"/>
          </a:solidFill>
          <a:ln w="12700">
            <a:solidFill>
              <a:srgbClr val="C99700">
                <a:alpha val="85000"/>
              </a:srgbClr>
            </a:solidFill>
            <a:prstDash val="solid"/>
          </a:ln>
        </p:spPr>
      </p:sp>
      <p:sp>
        <p:nvSpPr>
          <p:cNvPr id="15" name="Text 13"/>
          <p:cNvSpPr/>
          <p:nvPr/>
        </p:nvSpPr>
        <p:spPr>
          <a:xfrm>
            <a:off x="6153912" y="1517904"/>
            <a:ext cx="2322576" cy="384048"/>
          </a:xfrm>
          <a:prstGeom prst="rect">
            <a:avLst/>
          </a:prstGeom>
          <a:noFill/>
          <a:ln/>
        </p:spPr>
        <p:txBody>
          <a:bodyPr wrap="square" lIns="0" tIns="0" rIns="0" bIns="0" rtlCol="0" anchor="ctr">
            <a:normAutofit/>
          </a:bodyPr>
          <a:lstStyle/>
          <a:p>
            <a:pPr algn="ctr" indent="0" marL="0">
              <a:buNone/>
            </a:pPr>
            <a:r>
              <a:rPr lang="en-US" sz="2500" b="1" dirty="0">
                <a:solidFill>
                  <a:srgbClr val="C99700"/>
                </a:solidFill>
                <a:latin typeface="Aptos Display" pitchFamily="34" charset="0"/>
                <a:ea typeface="Aptos Display" pitchFamily="34" charset="-122"/>
                <a:cs typeface="Aptos Display" pitchFamily="34" charset="-120"/>
              </a:rPr>
              <a:t>3 decisions</a:t>
            </a:r>
            <a:endParaRPr lang="en-US" sz="2500" dirty="0"/>
          </a:p>
        </p:txBody>
      </p:sp>
      <p:sp>
        <p:nvSpPr>
          <p:cNvPr id="16" name="Text 14"/>
          <p:cNvSpPr/>
          <p:nvPr/>
        </p:nvSpPr>
        <p:spPr>
          <a:xfrm>
            <a:off x="6208776" y="1956816"/>
            <a:ext cx="2212848" cy="320040"/>
          </a:xfrm>
          <a:prstGeom prst="rect">
            <a:avLst/>
          </a:prstGeom>
          <a:noFill/>
          <a:ln/>
        </p:spPr>
        <p:txBody>
          <a:bodyPr wrap="square" lIns="0" tIns="0" rIns="0" bIns="0" rtlCol="0" anchor="ctr">
            <a:normAutofit/>
          </a:bodyPr>
          <a:lstStyle/>
          <a:p>
            <a:pPr algn="ctr" indent="0" marL="0">
              <a:buNone/>
            </a:pPr>
            <a:r>
              <a:rPr lang="en-US" sz="920" dirty="0">
                <a:solidFill>
                  <a:srgbClr val="FFFFFF"/>
                </a:solidFill>
              </a:rPr>
              <a:t>punt • field goal • go for it</a:t>
            </a:r>
            <a:endParaRPr lang="en-US" sz="920" dirty="0"/>
          </a:p>
        </p:txBody>
      </p:sp>
      <p:sp>
        <p:nvSpPr>
          <p:cNvPr id="17" name="Shape 15"/>
          <p:cNvSpPr/>
          <p:nvPr/>
        </p:nvSpPr>
        <p:spPr>
          <a:xfrm>
            <a:off x="8778240" y="1353312"/>
            <a:ext cx="2468880" cy="1051560"/>
          </a:xfrm>
          <a:prstGeom prst="roundRect">
            <a:avLst/>
          </a:prstGeom>
          <a:solidFill>
            <a:srgbClr val="102D4D"/>
          </a:solidFill>
          <a:ln w="12700">
            <a:solidFill>
              <a:srgbClr val="C99700">
                <a:alpha val="85000"/>
              </a:srgbClr>
            </a:solidFill>
            <a:prstDash val="solid"/>
          </a:ln>
        </p:spPr>
      </p:sp>
      <p:sp>
        <p:nvSpPr>
          <p:cNvPr id="18" name="Text 16"/>
          <p:cNvSpPr/>
          <p:nvPr/>
        </p:nvSpPr>
        <p:spPr>
          <a:xfrm>
            <a:off x="8851392" y="1517904"/>
            <a:ext cx="2322576" cy="384048"/>
          </a:xfrm>
          <a:prstGeom prst="rect">
            <a:avLst/>
          </a:prstGeom>
          <a:noFill/>
          <a:ln/>
        </p:spPr>
        <p:txBody>
          <a:bodyPr wrap="square" lIns="0" tIns="0" rIns="0" bIns="0" rtlCol="0" anchor="ctr">
            <a:normAutofit/>
          </a:bodyPr>
          <a:lstStyle/>
          <a:p>
            <a:pPr algn="ctr" indent="0" marL="0">
              <a:buNone/>
            </a:pPr>
            <a:r>
              <a:rPr lang="en-US" sz="2500" b="1" dirty="0">
                <a:solidFill>
                  <a:srgbClr val="C99700"/>
                </a:solidFill>
                <a:latin typeface="Aptos Display" pitchFamily="34" charset="0"/>
                <a:ea typeface="Aptos Display" pitchFamily="34" charset="-122"/>
                <a:cs typeface="Aptos Display" pitchFamily="34" charset="-120"/>
              </a:rPr>
              <a:t>FBS-only</a:t>
            </a:r>
            <a:endParaRPr lang="en-US" sz="2500" dirty="0"/>
          </a:p>
        </p:txBody>
      </p:sp>
      <p:sp>
        <p:nvSpPr>
          <p:cNvPr id="19" name="Text 17"/>
          <p:cNvSpPr/>
          <p:nvPr/>
        </p:nvSpPr>
        <p:spPr>
          <a:xfrm>
            <a:off x="8906256" y="1956816"/>
            <a:ext cx="2212848" cy="320040"/>
          </a:xfrm>
          <a:prstGeom prst="rect">
            <a:avLst/>
          </a:prstGeom>
          <a:noFill/>
          <a:ln/>
        </p:spPr>
        <p:txBody>
          <a:bodyPr wrap="square" lIns="0" tIns="0" rIns="0" bIns="0" rtlCol="0" anchor="ctr">
            <a:normAutofit/>
          </a:bodyPr>
          <a:lstStyle/>
          <a:p>
            <a:pPr algn="ctr" indent="0" marL="0">
              <a:buNone/>
            </a:pPr>
            <a:r>
              <a:rPr lang="en-US" sz="920" dirty="0">
                <a:solidFill>
                  <a:srgbClr val="FFFFFF"/>
                </a:solidFill>
              </a:rPr>
              <a:t>team rankings</a:t>
            </a:r>
            <a:endParaRPr lang="en-US" sz="920" dirty="0"/>
          </a:p>
        </p:txBody>
      </p:sp>
      <p:sp>
        <p:nvSpPr>
          <p:cNvPr id="20" name="Text 18"/>
          <p:cNvSpPr/>
          <p:nvPr/>
        </p:nvSpPr>
        <p:spPr>
          <a:xfrm>
            <a:off x="777240" y="2788920"/>
            <a:ext cx="10515600" cy="914400"/>
          </a:xfrm>
          <a:prstGeom prst="rect">
            <a:avLst/>
          </a:prstGeom>
          <a:noFill/>
          <a:ln/>
        </p:spPr>
        <p:txBody>
          <a:bodyPr wrap="square" lIns="635" tIns="635" rIns="635" bIns="635" rtlCol="0" anchor="t">
            <a:normAutofit/>
          </a:bodyPr>
          <a:lstStyle/>
          <a:p>
            <a:pPr indent="0" marL="0">
              <a:buNone/>
            </a:pPr>
            <a:r>
              <a:rPr lang="en-US" sz="1230" dirty="0">
                <a:solidFill>
                  <a:srgbClr val="FFFFFF"/>
                </a:solidFill>
                <a:latin typeface="Aptos" pitchFamily="34" charset="0"/>
                <a:ea typeface="Aptos" pitchFamily="34" charset="-122"/>
                <a:cs typeface="Aptos" pitchFamily="34" charset="-120"/>
              </a:rPr>
              <a:t>• Fourth downs were classified using play type; penalties and timeouts were removed.
</a:t>
            </a:r>
            <a:pPr indent="0" marL="0">
              <a:buNone/>
            </a:pPr>
            <a:r>
              <a:rPr lang="en-US" sz="1230" dirty="0">
                <a:solidFill>
                  <a:srgbClr val="FFFFFF"/>
                </a:solidFill>
                <a:latin typeface="Aptos" pitchFamily="34" charset="0"/>
                <a:ea typeface="Aptos" pitchFamily="34" charset="-122"/>
                <a:cs typeface="Aptos" pitchFamily="34" charset="-120"/>
              </a:rPr>
              <a:t>• Go-for-it success equals yards gained ≥ distance needed.
</a:t>
            </a:r>
            <a:pPr indent="0" marL="0">
              <a:buNone/>
            </a:pPr>
            <a:r>
              <a:rPr lang="en-US" sz="1230" dirty="0">
                <a:solidFill>
                  <a:srgbClr val="FFFFFF"/>
                </a:solidFill>
                <a:latin typeface="Aptos" pitchFamily="34" charset="0"/>
                <a:ea typeface="Aptos" pitchFamily="34" charset="-122"/>
                <a:cs typeface="Aptos" pitchFamily="34" charset="-120"/>
              </a:rPr>
              <a:t>• Aggressiveness Index compares actual go rate to expected go rate by distance bucket and field zone.</a:t>
            </a:r>
            <a:endParaRPr lang="en-US" sz="1230" dirty="0"/>
          </a:p>
        </p:txBody>
      </p:sp>
      <p:sp>
        <p:nvSpPr>
          <p:cNvPr id="21" name="Shape 19"/>
          <p:cNvSpPr/>
          <p:nvPr/>
        </p:nvSpPr>
        <p:spPr>
          <a:xfrm>
            <a:off x="685800" y="4224528"/>
            <a:ext cx="5074920" cy="713232"/>
          </a:xfrm>
          <a:prstGeom prst="roundRect">
            <a:avLst>
              <a:gd name="adj" fmla="val 10256"/>
            </a:avLst>
          </a:prstGeom>
          <a:solidFill>
            <a:srgbClr val="152D4B"/>
          </a:solidFill>
          <a:ln w="13970">
            <a:solidFill>
              <a:srgbClr val="C99700">
                <a:alpha val="85000"/>
              </a:srgbClr>
            </a:solidFill>
            <a:prstDash val="solid"/>
          </a:ln>
        </p:spPr>
      </p:sp>
      <p:sp>
        <p:nvSpPr>
          <p:cNvPr id="22" name="Text 20"/>
          <p:cNvSpPr/>
          <p:nvPr/>
        </p:nvSpPr>
        <p:spPr>
          <a:xfrm>
            <a:off x="850392" y="4352544"/>
            <a:ext cx="4745736" cy="201168"/>
          </a:xfrm>
          <a:prstGeom prst="rect">
            <a:avLst/>
          </a:prstGeom>
          <a:noFill/>
          <a:ln/>
        </p:spPr>
        <p:txBody>
          <a:bodyPr wrap="square" lIns="0" tIns="0" rIns="0" bIns="0" rtlCol="0" anchor="ctr"/>
          <a:lstStyle/>
          <a:p>
            <a:pPr indent="0" marL="0">
              <a:buNone/>
            </a:pPr>
            <a:r>
              <a:rPr lang="en-US" sz="870" b="1" dirty="0">
                <a:solidFill>
                  <a:srgbClr val="C99700"/>
                </a:solidFill>
              </a:rPr>
              <a:t>INSIGHT</a:t>
            </a:r>
            <a:endParaRPr lang="en-US" sz="870" dirty="0"/>
          </a:p>
        </p:txBody>
      </p:sp>
      <p:sp>
        <p:nvSpPr>
          <p:cNvPr id="23" name="Text 21"/>
          <p:cNvSpPr/>
          <p:nvPr/>
        </p:nvSpPr>
        <p:spPr>
          <a:xfrm>
            <a:off x="850392" y="4608576"/>
            <a:ext cx="474573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The methodology is intentionally simple and transparent.</a:t>
            </a:r>
            <a:endParaRPr lang="en-US" sz="1220" dirty="0"/>
          </a:p>
        </p:txBody>
      </p:sp>
      <p:sp>
        <p:nvSpPr>
          <p:cNvPr id="24" name="Shape 22"/>
          <p:cNvSpPr/>
          <p:nvPr/>
        </p:nvSpPr>
        <p:spPr>
          <a:xfrm>
            <a:off x="6172200" y="4224528"/>
            <a:ext cx="5074920" cy="713232"/>
          </a:xfrm>
          <a:prstGeom prst="roundRect">
            <a:avLst>
              <a:gd name="adj" fmla="val 10256"/>
            </a:avLst>
          </a:prstGeom>
          <a:solidFill>
            <a:srgbClr val="152D4B"/>
          </a:solidFill>
          <a:ln w="13970">
            <a:solidFill>
              <a:srgbClr val="C99700">
                <a:alpha val="85000"/>
              </a:srgbClr>
            </a:solidFill>
            <a:prstDash val="solid"/>
          </a:ln>
        </p:spPr>
      </p:sp>
      <p:sp>
        <p:nvSpPr>
          <p:cNvPr id="25" name="Text 23"/>
          <p:cNvSpPr/>
          <p:nvPr/>
        </p:nvSpPr>
        <p:spPr>
          <a:xfrm>
            <a:off x="6336792" y="4352544"/>
            <a:ext cx="4745736" cy="201168"/>
          </a:xfrm>
          <a:prstGeom prst="rect">
            <a:avLst/>
          </a:prstGeom>
          <a:noFill/>
          <a:ln/>
        </p:spPr>
        <p:txBody>
          <a:bodyPr wrap="square" lIns="0" tIns="0" rIns="0" bIns="0" rtlCol="0" anchor="ctr"/>
          <a:lstStyle/>
          <a:p>
            <a:pPr indent="0" marL="0">
              <a:buNone/>
            </a:pPr>
            <a:r>
              <a:rPr lang="en-US" sz="870" b="1" dirty="0">
                <a:solidFill>
                  <a:srgbClr val="C99700"/>
                </a:solidFill>
              </a:rPr>
              <a:t>IMPLICATION</a:t>
            </a:r>
            <a:endParaRPr lang="en-US" sz="870" dirty="0"/>
          </a:p>
        </p:txBody>
      </p:sp>
      <p:sp>
        <p:nvSpPr>
          <p:cNvPr id="26" name="Text 24"/>
          <p:cNvSpPr/>
          <p:nvPr/>
        </p:nvSpPr>
        <p:spPr>
          <a:xfrm>
            <a:off x="6336792" y="4608576"/>
            <a:ext cx="474573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That makes the results easy to explain to coaches, students, or analytics staff.</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109728"/>
            <a:ext cx="4114800" cy="164592"/>
          </a:xfrm>
          <a:prstGeom prst="rect">
            <a:avLst/>
          </a:prstGeom>
          <a:noFill/>
          <a:ln/>
        </p:spPr>
        <p:txBody>
          <a:bodyPr wrap="square" lIns="0" tIns="0" rIns="0" bIns="0" rtlCol="0" anchor="ctr"/>
          <a:lstStyle/>
          <a:p>
            <a:pPr indent="0" marL="0">
              <a:buNone/>
            </a:pPr>
            <a:r>
              <a:rPr lang="en-US" sz="750" b="1" dirty="0">
                <a:solidFill>
                  <a:srgbClr val="CCD6E0"/>
                </a:solidFill>
              </a:rPr>
              <a:t>NATIONAL BEHAVIOR</a:t>
            </a:r>
            <a:endParaRPr lang="en-US" sz="750" dirty="0"/>
          </a:p>
        </p:txBody>
      </p:sp>
      <p:sp>
        <p:nvSpPr>
          <p:cNvPr id="3" name="Text 1"/>
          <p:cNvSpPr/>
          <p:nvPr/>
        </p:nvSpPr>
        <p:spPr>
          <a:xfrm>
            <a:off x="566928" y="310896"/>
            <a:ext cx="10881360" cy="384048"/>
          </a:xfrm>
          <a:prstGeom prst="rect">
            <a:avLst/>
          </a:prstGeom>
          <a:noFill/>
          <a:ln/>
        </p:spPr>
        <p:txBody>
          <a:bodyPr wrap="square" lIns="0" tIns="0" rIns="0" bIns="0" rtlCol="0" anchor="ctr">
            <a:normAutofit/>
          </a:bodyPr>
          <a:lstStyle/>
          <a:p>
            <a:pPr indent="0" marL="0">
              <a:buNone/>
            </a:pPr>
            <a:r>
              <a:rPr lang="en-US" sz="2350" b="1" dirty="0">
                <a:solidFill>
                  <a:srgbClr val="C99700"/>
                </a:solidFill>
                <a:latin typeface="Aptos Display" pitchFamily="34" charset="0"/>
                <a:ea typeface="Aptos Display" pitchFamily="34" charset="-122"/>
                <a:cs typeface="Aptos Display" pitchFamily="34" charset="-120"/>
              </a:rPr>
              <a:t>Short yardage drives aggression; long yardage drives conservatism.</a:t>
            </a:r>
            <a:endParaRPr lang="en-US" sz="2350" dirty="0"/>
          </a:p>
        </p:txBody>
      </p:sp>
      <p:sp>
        <p:nvSpPr>
          <p:cNvPr id="4" name="Text 2"/>
          <p:cNvSpPr/>
          <p:nvPr/>
        </p:nvSpPr>
        <p:spPr>
          <a:xfrm>
            <a:off x="585216" y="768096"/>
            <a:ext cx="10698480" cy="347472"/>
          </a:xfrm>
          <a:prstGeom prst="rect">
            <a:avLst/>
          </a:prstGeom>
          <a:noFill/>
          <a:ln/>
        </p:spPr>
        <p:txBody>
          <a:bodyPr wrap="square" lIns="0" tIns="0" rIns="0" bIns="0" rtlCol="0" anchor="ctr">
            <a:normAutofit/>
          </a:bodyPr>
          <a:lstStyle/>
          <a:p>
            <a:pPr indent="0" marL="0">
              <a:buNone/>
            </a:pPr>
            <a:r>
              <a:rPr lang="en-US" sz="1150" dirty="0">
                <a:solidFill>
                  <a:srgbClr val="FFFFFF"/>
                </a:solidFill>
                <a:latin typeface="Aptos" pitchFamily="34" charset="0"/>
                <a:ea typeface="Aptos" pitchFamily="34" charset="-122"/>
                <a:cs typeface="Aptos" pitchFamily="34" charset="-120"/>
              </a:rPr>
              <a:t>The decision threshold appears between two and three yards.</a:t>
            </a:r>
            <a:endParaRPr lang="en-US" sz="1150" dirty="0"/>
          </a:p>
        </p:txBody>
      </p:sp>
      <p:sp>
        <p:nvSpPr>
          <p:cNvPr id="5" name="Shape 3"/>
          <p:cNvSpPr/>
          <p:nvPr/>
        </p:nvSpPr>
        <p:spPr>
          <a:xfrm>
            <a:off x="548640" y="6364224"/>
            <a:ext cx="11109960" cy="0"/>
          </a:xfrm>
          <a:prstGeom prst="line">
            <a:avLst/>
          </a:prstGeom>
          <a:noFill/>
          <a:ln w="10160">
            <a:solidFill>
              <a:srgbClr val="C99700">
                <a:alpha val="80000"/>
              </a:srgbClr>
            </a:solidFill>
            <a:prstDash val="solid"/>
          </a:ln>
        </p:spPr>
      </p:sp>
      <p:sp>
        <p:nvSpPr>
          <p:cNvPr id="6" name="Text 4"/>
          <p:cNvSpPr/>
          <p:nvPr/>
        </p:nvSpPr>
        <p:spPr>
          <a:xfrm>
            <a:off x="594360" y="6446520"/>
            <a:ext cx="9875520" cy="201168"/>
          </a:xfrm>
          <a:prstGeom prst="rect">
            <a:avLst/>
          </a:prstGeom>
          <a:noFill/>
          <a:ln/>
        </p:spPr>
        <p:txBody>
          <a:bodyPr wrap="square" lIns="0" tIns="0" rIns="0" bIns="0" rtlCol="0" anchor="ctr"/>
          <a:lstStyle/>
          <a:p>
            <a:pPr indent="0" marL="0">
              <a:buNone/>
            </a:pPr>
            <a:r>
              <a:rPr lang="en-US" sz="780" dirty="0">
                <a:solidFill>
                  <a:srgbClr val="D6DEE8"/>
                </a:solidFill>
                <a:latin typeface="Aptos" pitchFamily="34" charset="0"/>
                <a:ea typeface="Aptos" pitchFamily="34" charset="-122"/>
                <a:cs typeface="Aptos" pitchFamily="34" charset="-120"/>
              </a:rPr>
              <a:t>2023–2025 FBS play-by-play • CollegeFootballData • Fourth-down decisions only</a:t>
            </a:r>
            <a:endParaRPr lang="en-US" sz="780" dirty="0"/>
          </a:p>
        </p:txBody>
      </p:sp>
      <p:sp>
        <p:nvSpPr>
          <p:cNvPr id="7" name="Text 5"/>
          <p:cNvSpPr/>
          <p:nvPr/>
        </p:nvSpPr>
        <p:spPr>
          <a:xfrm>
            <a:off x="11201400" y="6419088"/>
            <a:ext cx="457200" cy="228600"/>
          </a:xfrm>
          <a:prstGeom prst="rect">
            <a:avLst/>
          </a:prstGeom>
          <a:noFill/>
          <a:ln/>
        </p:spPr>
        <p:txBody>
          <a:bodyPr wrap="square" lIns="0" tIns="0" rIns="0" bIns="0" rtlCol="0" anchor="ctr"/>
          <a:lstStyle/>
          <a:p>
            <a:pPr algn="r" indent="0" marL="0">
              <a:buNone/>
            </a:pPr>
            <a:r>
              <a:rPr lang="en-US" sz="800" b="1" dirty="0">
                <a:solidFill>
                  <a:srgbClr val="C99700"/>
                </a:solidFill>
                <a:latin typeface="Aptos" pitchFamily="34" charset="0"/>
                <a:ea typeface="Aptos" pitchFamily="34" charset="-122"/>
                <a:cs typeface="Aptos" pitchFamily="34" charset="-120"/>
              </a:rPr>
              <a:t>04</a:t>
            </a:r>
            <a:endParaRPr lang="en-US" sz="800" dirty="0"/>
          </a:p>
        </p:txBody>
      </p:sp>
      <p:sp>
        <p:nvSpPr>
          <p:cNvPr id="8" name="Text 6"/>
          <p:cNvSpPr/>
          <p:nvPr/>
        </p:nvSpPr>
        <p:spPr>
          <a:xfrm>
            <a:off x="685800" y="1417320"/>
            <a:ext cx="4251960" cy="1965960"/>
          </a:xfrm>
          <a:prstGeom prst="rect">
            <a:avLst/>
          </a:prstGeom>
          <a:noFill/>
          <a:ln/>
        </p:spPr>
        <p:txBody>
          <a:bodyPr wrap="square" lIns="635" tIns="635" rIns="635" bIns="635" rtlCol="0" anchor="t">
            <a:normAutofit/>
          </a:bodyPr>
          <a:lstStyle/>
          <a:p>
            <a:pPr indent="0" marL="0">
              <a:buNone/>
            </a:pPr>
            <a:r>
              <a:rPr lang="en-US" sz="1240" dirty="0">
                <a:solidFill>
                  <a:srgbClr val="FFFFFF"/>
                </a:solidFill>
                <a:latin typeface="Aptos" pitchFamily="34" charset="0"/>
                <a:ea typeface="Aptos" pitchFamily="34" charset="-122"/>
                <a:cs typeface="Aptos" pitchFamily="34" charset="-120"/>
              </a:rPr>
              <a:t>• 4th &amp; 1: teams go 74.6% of the time.
</a:t>
            </a:r>
            <a:pPr indent="0" marL="0">
              <a:buNone/>
            </a:pPr>
            <a:r>
              <a:rPr lang="en-US" sz="1240" dirty="0">
                <a:solidFill>
                  <a:srgbClr val="FFFFFF"/>
                </a:solidFill>
                <a:latin typeface="Aptos" pitchFamily="34" charset="0"/>
                <a:ea typeface="Aptos" pitchFamily="34" charset="-122"/>
                <a:cs typeface="Aptos" pitchFamily="34" charset="-120"/>
              </a:rPr>
              <a:t>• 4th &amp; 3–4: go rate falls to 30.7%.
</a:t>
            </a:r>
            <a:pPr indent="0" marL="0">
              <a:buNone/>
            </a:pPr>
            <a:r>
              <a:rPr lang="en-US" sz="1240" dirty="0">
                <a:solidFill>
                  <a:srgbClr val="FFFFFF"/>
                </a:solidFill>
                <a:latin typeface="Aptos" pitchFamily="34" charset="0"/>
                <a:ea typeface="Aptos" pitchFamily="34" charset="-122"/>
                <a:cs typeface="Aptos" pitchFamily="34" charset="-120"/>
              </a:rPr>
              <a:t>• 4th &amp; 8+: punt rate rises to 71.4%.</a:t>
            </a:r>
            <a:endParaRPr lang="en-US" sz="1240" dirty="0"/>
          </a:p>
        </p:txBody>
      </p:sp>
      <p:sp>
        <p:nvSpPr>
          <p:cNvPr id="9" name="Shape 7"/>
          <p:cNvSpPr/>
          <p:nvPr/>
        </p:nvSpPr>
        <p:spPr>
          <a:xfrm>
            <a:off x="685800" y="3675888"/>
            <a:ext cx="4251960" cy="713232"/>
          </a:xfrm>
          <a:prstGeom prst="roundRect">
            <a:avLst>
              <a:gd name="adj" fmla="val 10256"/>
            </a:avLst>
          </a:prstGeom>
          <a:solidFill>
            <a:srgbClr val="152D4B"/>
          </a:solidFill>
          <a:ln w="13970">
            <a:solidFill>
              <a:srgbClr val="C99700">
                <a:alpha val="85000"/>
              </a:srgbClr>
            </a:solidFill>
            <a:prstDash val="solid"/>
          </a:ln>
        </p:spPr>
      </p:sp>
      <p:sp>
        <p:nvSpPr>
          <p:cNvPr id="10" name="Text 8"/>
          <p:cNvSpPr/>
          <p:nvPr/>
        </p:nvSpPr>
        <p:spPr>
          <a:xfrm>
            <a:off x="850392" y="3803904"/>
            <a:ext cx="3922776" cy="201168"/>
          </a:xfrm>
          <a:prstGeom prst="rect">
            <a:avLst/>
          </a:prstGeom>
          <a:noFill/>
          <a:ln/>
        </p:spPr>
        <p:txBody>
          <a:bodyPr wrap="square" lIns="0" tIns="0" rIns="0" bIns="0" rtlCol="0" anchor="ctr"/>
          <a:lstStyle/>
          <a:p>
            <a:pPr indent="0" marL="0">
              <a:buNone/>
            </a:pPr>
            <a:r>
              <a:rPr lang="en-US" sz="870" b="1" dirty="0">
                <a:solidFill>
                  <a:srgbClr val="C99700"/>
                </a:solidFill>
              </a:rPr>
              <a:t>INSIGHT</a:t>
            </a:r>
            <a:endParaRPr lang="en-US" sz="870" dirty="0"/>
          </a:p>
        </p:txBody>
      </p:sp>
      <p:sp>
        <p:nvSpPr>
          <p:cNvPr id="11" name="Text 9"/>
          <p:cNvSpPr/>
          <p:nvPr/>
        </p:nvSpPr>
        <p:spPr>
          <a:xfrm>
            <a:off x="850392" y="4059936"/>
            <a:ext cx="392277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Coaches appear to treat fourth down categorically rather than continuously.</a:t>
            </a:r>
            <a:endParaRPr lang="en-US" sz="1220" dirty="0"/>
          </a:p>
        </p:txBody>
      </p:sp>
      <p:sp>
        <p:nvSpPr>
          <p:cNvPr id="12" name="Shape 10"/>
          <p:cNvSpPr/>
          <p:nvPr/>
        </p:nvSpPr>
        <p:spPr>
          <a:xfrm>
            <a:off x="685800" y="4590288"/>
            <a:ext cx="4251960" cy="713232"/>
          </a:xfrm>
          <a:prstGeom prst="roundRect">
            <a:avLst>
              <a:gd name="adj" fmla="val 10256"/>
            </a:avLst>
          </a:prstGeom>
          <a:solidFill>
            <a:srgbClr val="152D4B"/>
          </a:solidFill>
          <a:ln w="13970">
            <a:solidFill>
              <a:srgbClr val="C99700">
                <a:alpha val="85000"/>
              </a:srgbClr>
            </a:solidFill>
            <a:prstDash val="solid"/>
          </a:ln>
        </p:spPr>
      </p:sp>
      <p:sp>
        <p:nvSpPr>
          <p:cNvPr id="13" name="Text 11"/>
          <p:cNvSpPr/>
          <p:nvPr/>
        </p:nvSpPr>
        <p:spPr>
          <a:xfrm>
            <a:off x="850392" y="4718304"/>
            <a:ext cx="3922776" cy="201168"/>
          </a:xfrm>
          <a:prstGeom prst="rect">
            <a:avLst/>
          </a:prstGeom>
          <a:noFill/>
          <a:ln/>
        </p:spPr>
        <p:txBody>
          <a:bodyPr wrap="square" lIns="0" tIns="0" rIns="0" bIns="0" rtlCol="0" anchor="ctr"/>
          <a:lstStyle/>
          <a:p>
            <a:pPr indent="0" marL="0">
              <a:buNone/>
            </a:pPr>
            <a:r>
              <a:rPr lang="en-US" sz="870" b="1" dirty="0">
                <a:solidFill>
                  <a:srgbClr val="C99700"/>
                </a:solidFill>
              </a:rPr>
              <a:t>IMPLICATION</a:t>
            </a:r>
            <a:endParaRPr lang="en-US" sz="870" dirty="0"/>
          </a:p>
        </p:txBody>
      </p:sp>
      <p:sp>
        <p:nvSpPr>
          <p:cNvPr id="14" name="Text 12"/>
          <p:cNvSpPr/>
          <p:nvPr/>
        </p:nvSpPr>
        <p:spPr>
          <a:xfrm>
            <a:off x="850392" y="4974336"/>
            <a:ext cx="392277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The sharp drop after two yards is a strong signal for where analytics can challenge convention.</a:t>
            </a:r>
            <a:endParaRPr lang="en-US" sz="1220" dirty="0"/>
          </a:p>
        </p:txBody>
      </p:sp>
      <p:sp>
        <p:nvSpPr>
          <p:cNvPr id="15" name="Shape 13"/>
          <p:cNvSpPr/>
          <p:nvPr/>
        </p:nvSpPr>
        <p:spPr>
          <a:xfrm>
            <a:off x="5184648" y="1280160"/>
            <a:ext cx="6501384" cy="3941064"/>
          </a:xfrm>
          <a:prstGeom prst="roundRect">
            <a:avLst/>
          </a:prstGeom>
          <a:solidFill>
            <a:srgbClr val="FFFFFF"/>
          </a:solidFill>
          <a:ln w="6350">
            <a:solidFill>
              <a:srgbClr val="D0D7E2"/>
            </a:solidFill>
            <a:prstDash val="solid"/>
          </a:ln>
        </p:spPr>
      </p:sp>
      <p:pic>
        <p:nvPicPr>
          <p:cNvPr id="16" name="Image 0" descr="/mnt/data/extracted_pptx/ppt/media/image1.png">    </p:cNvPr>
          <p:cNvPicPr>
            <a:picLocks noChangeAspect="1"/>
          </p:cNvPicPr>
          <p:nvPr/>
        </p:nvPicPr>
        <p:blipFill>
          <a:blip r:embed="rId1"/>
          <a:stretch>
            <a:fillRect/>
          </a:stretch>
        </p:blipFill>
        <p:spPr>
          <a:xfrm>
            <a:off x="5260569" y="1353312"/>
            <a:ext cx="6349542" cy="3794760"/>
          </a:xfrm>
          <a:prstGeom prst="rect">
            <a:avLst/>
          </a:prstGeom>
        </p:spPr>
      </p:pic>
      <p:sp>
        <p:nvSpPr>
          <p:cNvPr id="17" name="Shape 14"/>
          <p:cNvSpPr/>
          <p:nvPr/>
        </p:nvSpPr>
        <p:spPr>
          <a:xfrm>
            <a:off x="7498080" y="5559552"/>
            <a:ext cx="2514600" cy="566928"/>
          </a:xfrm>
          <a:prstGeom prst="roundRect">
            <a:avLst/>
          </a:prstGeom>
          <a:solidFill>
            <a:srgbClr val="102D4D"/>
          </a:solidFill>
          <a:ln w="12700">
            <a:solidFill>
              <a:srgbClr val="C99700"/>
            </a:solidFill>
            <a:prstDash val="solid"/>
          </a:ln>
        </p:spPr>
      </p:sp>
      <p:sp>
        <p:nvSpPr>
          <p:cNvPr id="18" name="Text 15"/>
          <p:cNvSpPr/>
          <p:nvPr/>
        </p:nvSpPr>
        <p:spPr>
          <a:xfrm>
            <a:off x="7626096" y="5669280"/>
            <a:ext cx="2258568" cy="320040"/>
          </a:xfrm>
          <a:prstGeom prst="rect">
            <a:avLst/>
          </a:prstGeom>
          <a:noFill/>
          <a:ln/>
        </p:spPr>
        <p:txBody>
          <a:bodyPr wrap="square" lIns="0" tIns="0" rIns="0" bIns="0" rtlCol="0" anchor="ctr">
            <a:normAutofit/>
          </a:bodyPr>
          <a:lstStyle/>
          <a:p>
            <a:pPr algn="ctr" indent="0" marL="0">
              <a:buNone/>
            </a:pPr>
            <a:r>
              <a:rPr lang="en-US" sz="1100" b="1" dirty="0">
                <a:solidFill>
                  <a:srgbClr val="C99700"/>
                </a:solidFill>
              </a:rPr>
              <a:t>Threshold shift: 2 → 3 yards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109728"/>
            <a:ext cx="4114800" cy="164592"/>
          </a:xfrm>
          <a:prstGeom prst="rect">
            <a:avLst/>
          </a:prstGeom>
          <a:noFill/>
          <a:ln/>
        </p:spPr>
        <p:txBody>
          <a:bodyPr wrap="square" lIns="0" tIns="0" rIns="0" bIns="0" rtlCol="0" anchor="ctr"/>
          <a:lstStyle/>
          <a:p>
            <a:pPr indent="0" marL="0">
              <a:buNone/>
            </a:pPr>
            <a:r>
              <a:rPr lang="en-US" sz="750" b="1" dirty="0">
                <a:solidFill>
                  <a:srgbClr val="CCD6E0"/>
                </a:solidFill>
              </a:rPr>
              <a:t>NATIONAL BEHAVIOR</a:t>
            </a:r>
            <a:endParaRPr lang="en-US" sz="750" dirty="0"/>
          </a:p>
        </p:txBody>
      </p:sp>
      <p:sp>
        <p:nvSpPr>
          <p:cNvPr id="3" name="Text 1"/>
          <p:cNvSpPr/>
          <p:nvPr/>
        </p:nvSpPr>
        <p:spPr>
          <a:xfrm>
            <a:off x="566928" y="310896"/>
            <a:ext cx="10881360" cy="384048"/>
          </a:xfrm>
          <a:prstGeom prst="rect">
            <a:avLst/>
          </a:prstGeom>
          <a:noFill/>
          <a:ln/>
        </p:spPr>
        <p:txBody>
          <a:bodyPr wrap="square" lIns="0" tIns="0" rIns="0" bIns="0" rtlCol="0" anchor="ctr">
            <a:normAutofit/>
          </a:bodyPr>
          <a:lstStyle/>
          <a:p>
            <a:pPr indent="0" marL="0">
              <a:buNone/>
            </a:pPr>
            <a:r>
              <a:rPr lang="en-US" sz="2350" b="1" dirty="0">
                <a:solidFill>
                  <a:srgbClr val="C99700"/>
                </a:solidFill>
                <a:latin typeface="Aptos Display" pitchFamily="34" charset="0"/>
                <a:ea typeface="Aptos Display" pitchFamily="34" charset="-122"/>
                <a:cs typeface="Aptos Display" pitchFamily="34" charset="-120"/>
              </a:rPr>
              <a:t>Midfield remains the largest conservative zone.</a:t>
            </a:r>
            <a:endParaRPr lang="en-US" sz="2350" dirty="0"/>
          </a:p>
        </p:txBody>
      </p:sp>
      <p:sp>
        <p:nvSpPr>
          <p:cNvPr id="4" name="Text 2"/>
          <p:cNvSpPr/>
          <p:nvPr/>
        </p:nvSpPr>
        <p:spPr>
          <a:xfrm>
            <a:off x="585216" y="768096"/>
            <a:ext cx="10698480" cy="347472"/>
          </a:xfrm>
          <a:prstGeom prst="rect">
            <a:avLst/>
          </a:prstGeom>
          <a:noFill/>
          <a:ln/>
        </p:spPr>
        <p:txBody>
          <a:bodyPr wrap="square" lIns="0" tIns="0" rIns="0" bIns="0" rtlCol="0" anchor="ctr">
            <a:normAutofit/>
          </a:bodyPr>
          <a:lstStyle/>
          <a:p>
            <a:pPr indent="0" marL="0">
              <a:buNone/>
            </a:pPr>
            <a:r>
              <a:rPr lang="en-US" sz="1150" dirty="0">
                <a:solidFill>
                  <a:srgbClr val="FFFFFF"/>
                </a:solidFill>
                <a:latin typeface="Aptos" pitchFamily="34" charset="0"/>
                <a:ea typeface="Aptos" pitchFamily="34" charset="-122"/>
                <a:cs typeface="Aptos" pitchFamily="34" charset="-120"/>
              </a:rPr>
              <a:t>Teams punt 72.7% of the time in midfield.</a:t>
            </a:r>
            <a:endParaRPr lang="en-US" sz="1150" dirty="0"/>
          </a:p>
        </p:txBody>
      </p:sp>
      <p:sp>
        <p:nvSpPr>
          <p:cNvPr id="5" name="Shape 3"/>
          <p:cNvSpPr/>
          <p:nvPr/>
        </p:nvSpPr>
        <p:spPr>
          <a:xfrm>
            <a:off x="548640" y="6364224"/>
            <a:ext cx="11109960" cy="0"/>
          </a:xfrm>
          <a:prstGeom prst="line">
            <a:avLst/>
          </a:prstGeom>
          <a:noFill/>
          <a:ln w="10160">
            <a:solidFill>
              <a:srgbClr val="C99700">
                <a:alpha val="80000"/>
              </a:srgbClr>
            </a:solidFill>
            <a:prstDash val="solid"/>
          </a:ln>
        </p:spPr>
      </p:sp>
      <p:sp>
        <p:nvSpPr>
          <p:cNvPr id="6" name="Text 4"/>
          <p:cNvSpPr/>
          <p:nvPr/>
        </p:nvSpPr>
        <p:spPr>
          <a:xfrm>
            <a:off x="594360" y="6446520"/>
            <a:ext cx="9875520" cy="201168"/>
          </a:xfrm>
          <a:prstGeom prst="rect">
            <a:avLst/>
          </a:prstGeom>
          <a:noFill/>
          <a:ln/>
        </p:spPr>
        <p:txBody>
          <a:bodyPr wrap="square" lIns="0" tIns="0" rIns="0" bIns="0" rtlCol="0" anchor="ctr"/>
          <a:lstStyle/>
          <a:p>
            <a:pPr indent="0" marL="0">
              <a:buNone/>
            </a:pPr>
            <a:r>
              <a:rPr lang="en-US" sz="780" dirty="0">
                <a:solidFill>
                  <a:srgbClr val="D6DEE8"/>
                </a:solidFill>
                <a:latin typeface="Aptos" pitchFamily="34" charset="0"/>
                <a:ea typeface="Aptos" pitchFamily="34" charset="-122"/>
                <a:cs typeface="Aptos" pitchFamily="34" charset="-120"/>
              </a:rPr>
              <a:t>2023–2025 FBS play-by-play • CollegeFootballData • Fourth-down decisions only</a:t>
            </a:r>
            <a:endParaRPr lang="en-US" sz="780" dirty="0"/>
          </a:p>
        </p:txBody>
      </p:sp>
      <p:sp>
        <p:nvSpPr>
          <p:cNvPr id="7" name="Text 5"/>
          <p:cNvSpPr/>
          <p:nvPr/>
        </p:nvSpPr>
        <p:spPr>
          <a:xfrm>
            <a:off x="11201400" y="6419088"/>
            <a:ext cx="457200" cy="228600"/>
          </a:xfrm>
          <a:prstGeom prst="rect">
            <a:avLst/>
          </a:prstGeom>
          <a:noFill/>
          <a:ln/>
        </p:spPr>
        <p:txBody>
          <a:bodyPr wrap="square" lIns="0" tIns="0" rIns="0" bIns="0" rtlCol="0" anchor="ctr"/>
          <a:lstStyle/>
          <a:p>
            <a:pPr algn="r" indent="0" marL="0">
              <a:buNone/>
            </a:pPr>
            <a:r>
              <a:rPr lang="en-US" sz="800" b="1" dirty="0">
                <a:solidFill>
                  <a:srgbClr val="C99700"/>
                </a:solidFill>
                <a:latin typeface="Aptos" pitchFamily="34" charset="0"/>
                <a:ea typeface="Aptos" pitchFamily="34" charset="-122"/>
                <a:cs typeface="Aptos" pitchFamily="34" charset="-120"/>
              </a:rPr>
              <a:t>05</a:t>
            </a:r>
            <a:endParaRPr lang="en-US" sz="800" dirty="0"/>
          </a:p>
        </p:txBody>
      </p:sp>
      <p:sp>
        <p:nvSpPr>
          <p:cNvPr id="8" name="Text 6"/>
          <p:cNvSpPr/>
          <p:nvPr/>
        </p:nvSpPr>
        <p:spPr>
          <a:xfrm>
            <a:off x="685800" y="1417320"/>
            <a:ext cx="4251960" cy="1965960"/>
          </a:xfrm>
          <a:prstGeom prst="rect">
            <a:avLst/>
          </a:prstGeom>
          <a:noFill/>
          <a:ln/>
        </p:spPr>
        <p:txBody>
          <a:bodyPr wrap="square" lIns="635" tIns="635" rIns="635" bIns="635" rtlCol="0" anchor="t">
            <a:normAutofit/>
          </a:bodyPr>
          <a:lstStyle/>
          <a:p>
            <a:pPr indent="0" marL="0">
              <a:buNone/>
            </a:pPr>
            <a:r>
              <a:rPr lang="en-US" sz="1240" dirty="0">
                <a:solidFill>
                  <a:srgbClr val="FFFFFF"/>
                </a:solidFill>
                <a:latin typeface="Aptos" pitchFamily="34" charset="0"/>
                <a:ea typeface="Aptos" pitchFamily="34" charset="-122"/>
                <a:cs typeface="Aptos" pitchFamily="34" charset="-120"/>
              </a:rPr>
              <a:t>• Own territory is predictably punt-heavy.
</a:t>
            </a:r>
            <a:pPr indent="0" marL="0">
              <a:buNone/>
            </a:pPr>
            <a:r>
              <a:rPr lang="en-US" sz="1240" dirty="0">
                <a:solidFill>
                  <a:srgbClr val="FFFFFF"/>
                </a:solidFill>
                <a:latin typeface="Aptos" pitchFamily="34" charset="0"/>
                <a:ea typeface="Aptos" pitchFamily="34" charset="-122"/>
                <a:cs typeface="Aptos" pitchFamily="34" charset="-120"/>
              </a:rPr>
              <a:t>• Opponent territory is much more balanced.
</a:t>
            </a:r>
            <a:pPr indent="0" marL="0">
              <a:buNone/>
            </a:pPr>
            <a:r>
              <a:rPr lang="en-US" sz="1240" dirty="0">
                <a:solidFill>
                  <a:srgbClr val="FFFFFF"/>
                </a:solidFill>
                <a:latin typeface="Aptos" pitchFamily="34" charset="0"/>
                <a:ea typeface="Aptos" pitchFamily="34" charset="-122"/>
                <a:cs typeface="Aptos" pitchFamily="34" charset="-120"/>
              </a:rPr>
              <a:t>• Red zone decisions heavily favor field goals.</a:t>
            </a:r>
            <a:endParaRPr lang="en-US" sz="1240" dirty="0"/>
          </a:p>
        </p:txBody>
      </p:sp>
      <p:sp>
        <p:nvSpPr>
          <p:cNvPr id="9" name="Shape 7"/>
          <p:cNvSpPr/>
          <p:nvPr/>
        </p:nvSpPr>
        <p:spPr>
          <a:xfrm>
            <a:off x="685800" y="3675888"/>
            <a:ext cx="4251960" cy="713232"/>
          </a:xfrm>
          <a:prstGeom prst="roundRect">
            <a:avLst>
              <a:gd name="adj" fmla="val 10256"/>
            </a:avLst>
          </a:prstGeom>
          <a:solidFill>
            <a:srgbClr val="152D4B"/>
          </a:solidFill>
          <a:ln w="13970">
            <a:solidFill>
              <a:srgbClr val="C99700">
                <a:alpha val="85000"/>
              </a:srgbClr>
            </a:solidFill>
            <a:prstDash val="solid"/>
          </a:ln>
        </p:spPr>
      </p:sp>
      <p:sp>
        <p:nvSpPr>
          <p:cNvPr id="10" name="Text 8"/>
          <p:cNvSpPr/>
          <p:nvPr/>
        </p:nvSpPr>
        <p:spPr>
          <a:xfrm>
            <a:off x="850392" y="3803904"/>
            <a:ext cx="3922776" cy="201168"/>
          </a:xfrm>
          <a:prstGeom prst="rect">
            <a:avLst/>
          </a:prstGeom>
          <a:noFill/>
          <a:ln/>
        </p:spPr>
        <p:txBody>
          <a:bodyPr wrap="square" lIns="0" tIns="0" rIns="0" bIns="0" rtlCol="0" anchor="ctr"/>
          <a:lstStyle/>
          <a:p>
            <a:pPr indent="0" marL="0">
              <a:buNone/>
            </a:pPr>
            <a:r>
              <a:rPr lang="en-US" sz="870" b="1" dirty="0">
                <a:solidFill>
                  <a:srgbClr val="C99700"/>
                </a:solidFill>
              </a:rPr>
              <a:t>INSIGHT</a:t>
            </a:r>
            <a:endParaRPr lang="en-US" sz="870" dirty="0"/>
          </a:p>
        </p:txBody>
      </p:sp>
      <p:sp>
        <p:nvSpPr>
          <p:cNvPr id="11" name="Text 9"/>
          <p:cNvSpPr/>
          <p:nvPr/>
        </p:nvSpPr>
        <p:spPr>
          <a:xfrm>
            <a:off x="850392" y="4059936"/>
            <a:ext cx="392277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Midfield is the clearest conservative decision zone.</a:t>
            </a:r>
            <a:endParaRPr lang="en-US" sz="1220" dirty="0"/>
          </a:p>
        </p:txBody>
      </p:sp>
      <p:sp>
        <p:nvSpPr>
          <p:cNvPr id="12" name="Shape 10"/>
          <p:cNvSpPr/>
          <p:nvPr/>
        </p:nvSpPr>
        <p:spPr>
          <a:xfrm>
            <a:off x="685800" y="4590288"/>
            <a:ext cx="4251960" cy="713232"/>
          </a:xfrm>
          <a:prstGeom prst="roundRect">
            <a:avLst>
              <a:gd name="adj" fmla="val 10256"/>
            </a:avLst>
          </a:prstGeom>
          <a:solidFill>
            <a:srgbClr val="152D4B"/>
          </a:solidFill>
          <a:ln w="13970">
            <a:solidFill>
              <a:srgbClr val="C99700">
                <a:alpha val="85000"/>
              </a:srgbClr>
            </a:solidFill>
            <a:prstDash val="solid"/>
          </a:ln>
        </p:spPr>
      </p:sp>
      <p:sp>
        <p:nvSpPr>
          <p:cNvPr id="13" name="Text 11"/>
          <p:cNvSpPr/>
          <p:nvPr/>
        </p:nvSpPr>
        <p:spPr>
          <a:xfrm>
            <a:off x="850392" y="4718304"/>
            <a:ext cx="3922776" cy="201168"/>
          </a:xfrm>
          <a:prstGeom prst="rect">
            <a:avLst/>
          </a:prstGeom>
          <a:noFill/>
          <a:ln/>
        </p:spPr>
        <p:txBody>
          <a:bodyPr wrap="square" lIns="0" tIns="0" rIns="0" bIns="0" rtlCol="0" anchor="ctr"/>
          <a:lstStyle/>
          <a:p>
            <a:pPr indent="0" marL="0">
              <a:buNone/>
            </a:pPr>
            <a:r>
              <a:rPr lang="en-US" sz="870" b="1" dirty="0">
                <a:solidFill>
                  <a:srgbClr val="C99700"/>
                </a:solidFill>
              </a:rPr>
              <a:t>IMPLICATION</a:t>
            </a:r>
            <a:endParaRPr lang="en-US" sz="870" dirty="0"/>
          </a:p>
        </p:txBody>
      </p:sp>
      <p:sp>
        <p:nvSpPr>
          <p:cNvPr id="14" name="Text 12"/>
          <p:cNvSpPr/>
          <p:nvPr/>
        </p:nvSpPr>
        <p:spPr>
          <a:xfrm>
            <a:off x="850392" y="4974336"/>
            <a:ext cx="392277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Predictable midfield punting may leave strategic value on the table.</a:t>
            </a:r>
            <a:endParaRPr lang="en-US" sz="1220" dirty="0"/>
          </a:p>
        </p:txBody>
      </p:sp>
      <p:sp>
        <p:nvSpPr>
          <p:cNvPr id="15" name="Shape 13"/>
          <p:cNvSpPr/>
          <p:nvPr/>
        </p:nvSpPr>
        <p:spPr>
          <a:xfrm>
            <a:off x="5184648" y="1280160"/>
            <a:ext cx="6501384" cy="3941064"/>
          </a:xfrm>
          <a:prstGeom prst="roundRect">
            <a:avLst/>
          </a:prstGeom>
          <a:solidFill>
            <a:srgbClr val="FFFFFF"/>
          </a:solidFill>
          <a:ln w="6350">
            <a:solidFill>
              <a:srgbClr val="D0D7E2"/>
            </a:solidFill>
            <a:prstDash val="solid"/>
          </a:ln>
        </p:spPr>
      </p:sp>
      <p:pic>
        <p:nvPicPr>
          <p:cNvPr id="16" name="Image 0" descr="/mnt/data/extracted_pptx/ppt/media/image2.png">    </p:cNvPr>
          <p:cNvPicPr>
            <a:picLocks noChangeAspect="1"/>
          </p:cNvPicPr>
          <p:nvPr/>
        </p:nvPicPr>
        <p:blipFill>
          <a:blip r:embed="rId1"/>
          <a:stretch>
            <a:fillRect/>
          </a:stretch>
        </p:blipFill>
        <p:spPr>
          <a:xfrm>
            <a:off x="5257800" y="1353797"/>
            <a:ext cx="6355080" cy="3793790"/>
          </a:xfrm>
          <a:prstGeom prst="rect">
            <a:avLst/>
          </a:prstGeom>
        </p:spPr>
      </p:pic>
      <p:sp>
        <p:nvSpPr>
          <p:cNvPr id="17" name="Shape 14"/>
          <p:cNvSpPr/>
          <p:nvPr/>
        </p:nvSpPr>
        <p:spPr>
          <a:xfrm>
            <a:off x="7452360" y="5559552"/>
            <a:ext cx="2697480" cy="566928"/>
          </a:xfrm>
          <a:prstGeom prst="roundRect">
            <a:avLst/>
          </a:prstGeom>
          <a:solidFill>
            <a:srgbClr val="102D4D"/>
          </a:solidFill>
          <a:ln w="12700">
            <a:solidFill>
              <a:srgbClr val="C99700"/>
            </a:solidFill>
            <a:prstDash val="solid"/>
          </a:ln>
        </p:spPr>
      </p:sp>
      <p:sp>
        <p:nvSpPr>
          <p:cNvPr id="18" name="Text 15"/>
          <p:cNvSpPr/>
          <p:nvPr/>
        </p:nvSpPr>
        <p:spPr>
          <a:xfrm>
            <a:off x="7580376" y="5669280"/>
            <a:ext cx="2441448" cy="320040"/>
          </a:xfrm>
          <a:prstGeom prst="rect">
            <a:avLst/>
          </a:prstGeom>
          <a:noFill/>
          <a:ln/>
        </p:spPr>
        <p:txBody>
          <a:bodyPr wrap="square" lIns="0" tIns="0" rIns="0" bIns="0" rtlCol="0" anchor="ctr">
            <a:normAutofit/>
          </a:bodyPr>
          <a:lstStyle/>
          <a:p>
            <a:pPr algn="ctr" indent="0" marL="0">
              <a:buNone/>
            </a:pPr>
            <a:r>
              <a:rPr lang="en-US" sz="1100" b="1" dirty="0">
                <a:solidFill>
                  <a:srgbClr val="C99700"/>
                </a:solidFill>
              </a:rPr>
              <a:t>72.7% punts in midfield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109728"/>
            <a:ext cx="4114800" cy="164592"/>
          </a:xfrm>
          <a:prstGeom prst="rect">
            <a:avLst/>
          </a:prstGeom>
          <a:noFill/>
          <a:ln/>
        </p:spPr>
        <p:txBody>
          <a:bodyPr wrap="square" lIns="0" tIns="0" rIns="0" bIns="0" rtlCol="0" anchor="ctr"/>
          <a:lstStyle/>
          <a:p>
            <a:pPr indent="0" marL="0">
              <a:buNone/>
            </a:pPr>
            <a:r>
              <a:rPr lang="en-US" sz="750" b="1" dirty="0">
                <a:solidFill>
                  <a:srgbClr val="CCD6E0"/>
                </a:solidFill>
              </a:rPr>
              <a:t>CONVERSION OUTCOMES</a:t>
            </a:r>
            <a:endParaRPr lang="en-US" sz="750" dirty="0"/>
          </a:p>
        </p:txBody>
      </p:sp>
      <p:sp>
        <p:nvSpPr>
          <p:cNvPr id="3" name="Text 1"/>
          <p:cNvSpPr/>
          <p:nvPr/>
        </p:nvSpPr>
        <p:spPr>
          <a:xfrm>
            <a:off x="566928" y="310896"/>
            <a:ext cx="10881360" cy="384048"/>
          </a:xfrm>
          <a:prstGeom prst="rect">
            <a:avLst/>
          </a:prstGeom>
          <a:noFill/>
          <a:ln/>
        </p:spPr>
        <p:txBody>
          <a:bodyPr wrap="square" lIns="0" tIns="0" rIns="0" bIns="0" rtlCol="0" anchor="ctr">
            <a:normAutofit/>
          </a:bodyPr>
          <a:lstStyle/>
          <a:p>
            <a:pPr indent="0" marL="0">
              <a:buNone/>
            </a:pPr>
            <a:r>
              <a:rPr lang="en-US" sz="2350" b="1" dirty="0">
                <a:solidFill>
                  <a:srgbClr val="C99700"/>
                </a:solidFill>
                <a:latin typeface="Aptos Display" pitchFamily="34" charset="0"/>
                <a:ea typeface="Aptos Display" pitchFamily="34" charset="-122"/>
                <a:cs typeface="Aptos Display" pitchFamily="34" charset="-120"/>
              </a:rPr>
              <a:t>Teams often convert more often than they attempt.</a:t>
            </a:r>
            <a:endParaRPr lang="en-US" sz="2350" dirty="0"/>
          </a:p>
        </p:txBody>
      </p:sp>
      <p:sp>
        <p:nvSpPr>
          <p:cNvPr id="4" name="Text 2"/>
          <p:cNvSpPr/>
          <p:nvPr/>
        </p:nvSpPr>
        <p:spPr>
          <a:xfrm>
            <a:off x="585216" y="768096"/>
            <a:ext cx="10698480" cy="347472"/>
          </a:xfrm>
          <a:prstGeom prst="rect">
            <a:avLst/>
          </a:prstGeom>
          <a:noFill/>
          <a:ln/>
        </p:spPr>
        <p:txBody>
          <a:bodyPr wrap="square" lIns="0" tIns="0" rIns="0" bIns="0" rtlCol="0" anchor="ctr">
            <a:normAutofit/>
          </a:bodyPr>
          <a:lstStyle/>
          <a:p>
            <a:pPr indent="0" marL="0">
              <a:buNone/>
            </a:pPr>
            <a:r>
              <a:rPr lang="en-US" sz="1150" dirty="0">
                <a:solidFill>
                  <a:srgbClr val="FFFFFF"/>
                </a:solidFill>
                <a:latin typeface="Aptos" pitchFamily="34" charset="0"/>
                <a:ea typeface="Aptos" pitchFamily="34" charset="-122"/>
                <a:cs typeface="Aptos" pitchFamily="34" charset="-120"/>
              </a:rPr>
              <a:t>Moderate yardage shows the clearest gap between behavior and outcomes.</a:t>
            </a:r>
            <a:endParaRPr lang="en-US" sz="1150" dirty="0"/>
          </a:p>
        </p:txBody>
      </p:sp>
      <p:sp>
        <p:nvSpPr>
          <p:cNvPr id="5" name="Shape 3"/>
          <p:cNvSpPr/>
          <p:nvPr/>
        </p:nvSpPr>
        <p:spPr>
          <a:xfrm>
            <a:off x="548640" y="6364224"/>
            <a:ext cx="11109960" cy="0"/>
          </a:xfrm>
          <a:prstGeom prst="line">
            <a:avLst/>
          </a:prstGeom>
          <a:noFill/>
          <a:ln w="10160">
            <a:solidFill>
              <a:srgbClr val="C99700">
                <a:alpha val="80000"/>
              </a:srgbClr>
            </a:solidFill>
            <a:prstDash val="solid"/>
          </a:ln>
        </p:spPr>
      </p:sp>
      <p:sp>
        <p:nvSpPr>
          <p:cNvPr id="6" name="Text 4"/>
          <p:cNvSpPr/>
          <p:nvPr/>
        </p:nvSpPr>
        <p:spPr>
          <a:xfrm>
            <a:off x="594360" y="6446520"/>
            <a:ext cx="9875520" cy="201168"/>
          </a:xfrm>
          <a:prstGeom prst="rect">
            <a:avLst/>
          </a:prstGeom>
          <a:noFill/>
          <a:ln/>
        </p:spPr>
        <p:txBody>
          <a:bodyPr wrap="square" lIns="0" tIns="0" rIns="0" bIns="0" rtlCol="0" anchor="ctr"/>
          <a:lstStyle/>
          <a:p>
            <a:pPr indent="0" marL="0">
              <a:buNone/>
            </a:pPr>
            <a:r>
              <a:rPr lang="en-US" sz="780" dirty="0">
                <a:solidFill>
                  <a:srgbClr val="D6DEE8"/>
                </a:solidFill>
                <a:latin typeface="Aptos" pitchFamily="34" charset="0"/>
                <a:ea typeface="Aptos" pitchFamily="34" charset="-122"/>
                <a:cs typeface="Aptos" pitchFamily="34" charset="-120"/>
              </a:rPr>
              <a:t>2023–2025 FBS play-by-play • CollegeFootballData • Fourth-down decisions only</a:t>
            </a:r>
            <a:endParaRPr lang="en-US" sz="780" dirty="0"/>
          </a:p>
        </p:txBody>
      </p:sp>
      <p:sp>
        <p:nvSpPr>
          <p:cNvPr id="7" name="Text 5"/>
          <p:cNvSpPr/>
          <p:nvPr/>
        </p:nvSpPr>
        <p:spPr>
          <a:xfrm>
            <a:off x="11201400" y="6419088"/>
            <a:ext cx="457200" cy="228600"/>
          </a:xfrm>
          <a:prstGeom prst="rect">
            <a:avLst/>
          </a:prstGeom>
          <a:noFill/>
          <a:ln/>
        </p:spPr>
        <p:txBody>
          <a:bodyPr wrap="square" lIns="0" tIns="0" rIns="0" bIns="0" rtlCol="0" anchor="ctr"/>
          <a:lstStyle/>
          <a:p>
            <a:pPr algn="r" indent="0" marL="0">
              <a:buNone/>
            </a:pPr>
            <a:r>
              <a:rPr lang="en-US" sz="800" b="1" dirty="0">
                <a:solidFill>
                  <a:srgbClr val="C99700"/>
                </a:solidFill>
                <a:latin typeface="Aptos" pitchFamily="34" charset="0"/>
                <a:ea typeface="Aptos" pitchFamily="34" charset="-122"/>
                <a:cs typeface="Aptos" pitchFamily="34" charset="-120"/>
              </a:rPr>
              <a:t>06</a:t>
            </a:r>
            <a:endParaRPr lang="en-US" sz="800" dirty="0"/>
          </a:p>
        </p:txBody>
      </p:sp>
      <p:sp>
        <p:nvSpPr>
          <p:cNvPr id="8" name="Text 6"/>
          <p:cNvSpPr/>
          <p:nvPr/>
        </p:nvSpPr>
        <p:spPr>
          <a:xfrm>
            <a:off x="685800" y="1417320"/>
            <a:ext cx="4251960" cy="1965960"/>
          </a:xfrm>
          <a:prstGeom prst="rect">
            <a:avLst/>
          </a:prstGeom>
          <a:noFill/>
          <a:ln/>
        </p:spPr>
        <p:txBody>
          <a:bodyPr wrap="square" lIns="635" tIns="635" rIns="635" bIns="635" rtlCol="0" anchor="t">
            <a:normAutofit/>
          </a:bodyPr>
          <a:lstStyle/>
          <a:p>
            <a:pPr indent="0" marL="0">
              <a:buNone/>
            </a:pPr>
            <a:r>
              <a:rPr lang="en-US" sz="1240" dirty="0">
                <a:solidFill>
                  <a:srgbClr val="FFFFFF"/>
                </a:solidFill>
                <a:latin typeface="Aptos" pitchFamily="34" charset="0"/>
                <a:ea typeface="Aptos" pitchFamily="34" charset="-122"/>
                <a:cs typeface="Aptos" pitchFamily="34" charset="-120"/>
              </a:rPr>
              <a:t>• 4th &amp; 2: 49.1% go rate vs 56.9% success.
</a:t>
            </a:r>
            <a:pPr indent="0" marL="0">
              <a:buNone/>
            </a:pPr>
            <a:r>
              <a:rPr lang="en-US" sz="1240" dirty="0">
                <a:solidFill>
                  <a:srgbClr val="FFFFFF"/>
                </a:solidFill>
                <a:latin typeface="Aptos" pitchFamily="34" charset="0"/>
                <a:ea typeface="Aptos" pitchFamily="34" charset="-122"/>
                <a:cs typeface="Aptos" pitchFamily="34" charset="-120"/>
              </a:rPr>
              <a:t>• 4th &amp; 3–4: 30.7% go rate vs 52.0% success.
</a:t>
            </a:r>
            <a:pPr indent="0" marL="0">
              <a:buNone/>
            </a:pPr>
            <a:r>
              <a:rPr lang="en-US" sz="1240" dirty="0">
                <a:solidFill>
                  <a:srgbClr val="FFFFFF"/>
                </a:solidFill>
                <a:latin typeface="Aptos" pitchFamily="34" charset="0"/>
                <a:ea typeface="Aptos" pitchFamily="34" charset="-122"/>
                <a:cs typeface="Aptos" pitchFamily="34" charset="-120"/>
              </a:rPr>
              <a:t>• 4th &amp; 5–7: 17.6% go rate vs 39.9% success.</a:t>
            </a:r>
            <a:endParaRPr lang="en-US" sz="1240" dirty="0"/>
          </a:p>
        </p:txBody>
      </p:sp>
      <p:sp>
        <p:nvSpPr>
          <p:cNvPr id="9" name="Shape 7"/>
          <p:cNvSpPr/>
          <p:nvPr/>
        </p:nvSpPr>
        <p:spPr>
          <a:xfrm>
            <a:off x="685800" y="3675888"/>
            <a:ext cx="4251960" cy="713232"/>
          </a:xfrm>
          <a:prstGeom prst="roundRect">
            <a:avLst>
              <a:gd name="adj" fmla="val 10256"/>
            </a:avLst>
          </a:prstGeom>
          <a:solidFill>
            <a:srgbClr val="152D4B"/>
          </a:solidFill>
          <a:ln w="13970">
            <a:solidFill>
              <a:srgbClr val="C99700">
                <a:alpha val="85000"/>
              </a:srgbClr>
            </a:solidFill>
            <a:prstDash val="solid"/>
          </a:ln>
        </p:spPr>
      </p:sp>
      <p:sp>
        <p:nvSpPr>
          <p:cNvPr id="10" name="Text 8"/>
          <p:cNvSpPr/>
          <p:nvPr/>
        </p:nvSpPr>
        <p:spPr>
          <a:xfrm>
            <a:off x="850392" y="3803904"/>
            <a:ext cx="3922776" cy="201168"/>
          </a:xfrm>
          <a:prstGeom prst="rect">
            <a:avLst/>
          </a:prstGeom>
          <a:noFill/>
          <a:ln/>
        </p:spPr>
        <p:txBody>
          <a:bodyPr wrap="square" lIns="0" tIns="0" rIns="0" bIns="0" rtlCol="0" anchor="ctr"/>
          <a:lstStyle/>
          <a:p>
            <a:pPr indent="0" marL="0">
              <a:buNone/>
            </a:pPr>
            <a:r>
              <a:rPr lang="en-US" sz="870" b="1" dirty="0">
                <a:solidFill>
                  <a:srgbClr val="C99700"/>
                </a:solidFill>
              </a:rPr>
              <a:t>INSIGHT</a:t>
            </a:r>
            <a:endParaRPr lang="en-US" sz="870" dirty="0"/>
          </a:p>
        </p:txBody>
      </p:sp>
      <p:sp>
        <p:nvSpPr>
          <p:cNvPr id="11" name="Text 9"/>
          <p:cNvSpPr/>
          <p:nvPr/>
        </p:nvSpPr>
        <p:spPr>
          <a:xfrm>
            <a:off x="850392" y="4059936"/>
            <a:ext cx="392277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Success rates remain meaningful beyond one yard.</a:t>
            </a:r>
            <a:endParaRPr lang="en-US" sz="1220" dirty="0"/>
          </a:p>
        </p:txBody>
      </p:sp>
      <p:sp>
        <p:nvSpPr>
          <p:cNvPr id="12" name="Shape 10"/>
          <p:cNvSpPr/>
          <p:nvPr/>
        </p:nvSpPr>
        <p:spPr>
          <a:xfrm>
            <a:off x="685800" y="4590288"/>
            <a:ext cx="4251960" cy="713232"/>
          </a:xfrm>
          <a:prstGeom prst="roundRect">
            <a:avLst>
              <a:gd name="adj" fmla="val 10256"/>
            </a:avLst>
          </a:prstGeom>
          <a:solidFill>
            <a:srgbClr val="152D4B"/>
          </a:solidFill>
          <a:ln w="13970">
            <a:solidFill>
              <a:srgbClr val="C99700">
                <a:alpha val="85000"/>
              </a:srgbClr>
            </a:solidFill>
            <a:prstDash val="solid"/>
          </a:ln>
        </p:spPr>
      </p:sp>
      <p:sp>
        <p:nvSpPr>
          <p:cNvPr id="13" name="Text 11"/>
          <p:cNvSpPr/>
          <p:nvPr/>
        </p:nvSpPr>
        <p:spPr>
          <a:xfrm>
            <a:off x="850392" y="4718304"/>
            <a:ext cx="3922776" cy="201168"/>
          </a:xfrm>
          <a:prstGeom prst="rect">
            <a:avLst/>
          </a:prstGeom>
          <a:noFill/>
          <a:ln/>
        </p:spPr>
        <p:txBody>
          <a:bodyPr wrap="square" lIns="0" tIns="0" rIns="0" bIns="0" rtlCol="0" anchor="ctr"/>
          <a:lstStyle/>
          <a:p>
            <a:pPr indent="0" marL="0">
              <a:buNone/>
            </a:pPr>
            <a:r>
              <a:rPr lang="en-US" sz="870" b="1" dirty="0">
                <a:solidFill>
                  <a:srgbClr val="C99700"/>
                </a:solidFill>
              </a:rPr>
              <a:t>IMPLICATION</a:t>
            </a:r>
            <a:endParaRPr lang="en-US" sz="870" dirty="0"/>
          </a:p>
        </p:txBody>
      </p:sp>
      <p:sp>
        <p:nvSpPr>
          <p:cNvPr id="14" name="Text 12"/>
          <p:cNvSpPr/>
          <p:nvPr/>
        </p:nvSpPr>
        <p:spPr>
          <a:xfrm>
            <a:off x="850392" y="4974336"/>
            <a:ext cx="392277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This does not mean teams should always go; it suggests under-aggression in select situations.</a:t>
            </a:r>
            <a:endParaRPr lang="en-US" sz="1220" dirty="0"/>
          </a:p>
        </p:txBody>
      </p:sp>
      <p:sp>
        <p:nvSpPr>
          <p:cNvPr id="15" name="Shape 13"/>
          <p:cNvSpPr/>
          <p:nvPr/>
        </p:nvSpPr>
        <p:spPr>
          <a:xfrm>
            <a:off x="5184648" y="1280160"/>
            <a:ext cx="6501384" cy="3941064"/>
          </a:xfrm>
          <a:prstGeom prst="roundRect">
            <a:avLst/>
          </a:prstGeom>
          <a:solidFill>
            <a:srgbClr val="FFFFFF"/>
          </a:solidFill>
          <a:ln w="6350">
            <a:solidFill>
              <a:srgbClr val="D0D7E2"/>
            </a:solidFill>
            <a:prstDash val="solid"/>
          </a:ln>
        </p:spPr>
      </p:sp>
      <p:pic>
        <p:nvPicPr>
          <p:cNvPr id="16" name="Image 0" descr="/mnt/data/extracted_pptx/ppt/media/image3.png">    </p:cNvPr>
          <p:cNvPicPr>
            <a:picLocks noChangeAspect="1"/>
          </p:cNvPicPr>
          <p:nvPr/>
        </p:nvPicPr>
        <p:blipFill>
          <a:blip r:embed="rId1"/>
          <a:stretch>
            <a:fillRect/>
          </a:stretch>
        </p:blipFill>
        <p:spPr>
          <a:xfrm>
            <a:off x="5260569" y="1353312"/>
            <a:ext cx="6349542" cy="3794760"/>
          </a:xfrm>
          <a:prstGeom prst="rect">
            <a:avLst/>
          </a:prstGeom>
        </p:spPr>
      </p:pic>
      <p:sp>
        <p:nvSpPr>
          <p:cNvPr id="17" name="Shape 14"/>
          <p:cNvSpPr/>
          <p:nvPr/>
        </p:nvSpPr>
        <p:spPr>
          <a:xfrm>
            <a:off x="7132320" y="5559552"/>
            <a:ext cx="3154680" cy="566928"/>
          </a:xfrm>
          <a:prstGeom prst="roundRect">
            <a:avLst/>
          </a:prstGeom>
          <a:solidFill>
            <a:srgbClr val="102D4D"/>
          </a:solidFill>
          <a:ln w="12700">
            <a:solidFill>
              <a:srgbClr val="C99700"/>
            </a:solidFill>
            <a:prstDash val="solid"/>
          </a:ln>
        </p:spPr>
      </p:sp>
      <p:sp>
        <p:nvSpPr>
          <p:cNvPr id="18" name="Text 15"/>
          <p:cNvSpPr/>
          <p:nvPr/>
        </p:nvSpPr>
        <p:spPr>
          <a:xfrm>
            <a:off x="7260336" y="5669280"/>
            <a:ext cx="2898648" cy="320040"/>
          </a:xfrm>
          <a:prstGeom prst="rect">
            <a:avLst/>
          </a:prstGeom>
          <a:noFill/>
          <a:ln/>
        </p:spPr>
        <p:txBody>
          <a:bodyPr wrap="square" lIns="0" tIns="0" rIns="0" bIns="0" rtlCol="0" anchor="ctr">
            <a:normAutofit/>
          </a:bodyPr>
          <a:lstStyle/>
          <a:p>
            <a:pPr algn="ctr" indent="0" marL="0">
              <a:buNone/>
            </a:pPr>
            <a:r>
              <a:rPr lang="en-US" sz="1100" b="1" dirty="0">
                <a:solidFill>
                  <a:srgbClr val="C99700"/>
                </a:solidFill>
              </a:rPr>
              <a:t>3–4 yards: 52% success vs 31% go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109728"/>
            <a:ext cx="4114800" cy="164592"/>
          </a:xfrm>
          <a:prstGeom prst="rect">
            <a:avLst/>
          </a:prstGeom>
          <a:noFill/>
          <a:ln/>
        </p:spPr>
        <p:txBody>
          <a:bodyPr wrap="square" lIns="0" tIns="0" rIns="0" bIns="0" rtlCol="0" anchor="ctr"/>
          <a:lstStyle/>
          <a:p>
            <a:pPr indent="0" marL="0">
              <a:buNone/>
            </a:pPr>
            <a:r>
              <a:rPr lang="en-US" sz="750" b="1" dirty="0">
                <a:solidFill>
                  <a:srgbClr val="CCD6E0"/>
                </a:solidFill>
              </a:rPr>
              <a:t>NOTRE DAME CASE STUDY</a:t>
            </a:r>
            <a:endParaRPr lang="en-US" sz="750" dirty="0"/>
          </a:p>
        </p:txBody>
      </p:sp>
      <p:sp>
        <p:nvSpPr>
          <p:cNvPr id="3" name="Text 1"/>
          <p:cNvSpPr/>
          <p:nvPr/>
        </p:nvSpPr>
        <p:spPr>
          <a:xfrm>
            <a:off x="566928" y="310896"/>
            <a:ext cx="10881360" cy="384048"/>
          </a:xfrm>
          <a:prstGeom prst="rect">
            <a:avLst/>
          </a:prstGeom>
          <a:noFill/>
          <a:ln/>
        </p:spPr>
        <p:txBody>
          <a:bodyPr wrap="square" lIns="0" tIns="0" rIns="0" bIns="0" rtlCol="0" anchor="ctr">
            <a:normAutofit/>
          </a:bodyPr>
          <a:lstStyle/>
          <a:p>
            <a:pPr indent="0" marL="0">
              <a:buNone/>
            </a:pPr>
            <a:r>
              <a:rPr lang="en-US" sz="2350" b="1" dirty="0">
                <a:solidFill>
                  <a:srgbClr val="C99700"/>
                </a:solidFill>
                <a:latin typeface="Aptos Display" pitchFamily="34" charset="0"/>
                <a:ea typeface="Aptos Display" pitchFamily="34" charset="-122"/>
                <a:cs typeface="Aptos Display" pitchFamily="34" charset="-120"/>
              </a:rPr>
              <a:t>Notre Dame is more aggressive than average in midfield.</a:t>
            </a:r>
            <a:endParaRPr lang="en-US" sz="2350" dirty="0"/>
          </a:p>
        </p:txBody>
      </p:sp>
      <p:sp>
        <p:nvSpPr>
          <p:cNvPr id="4" name="Text 2"/>
          <p:cNvSpPr/>
          <p:nvPr/>
        </p:nvSpPr>
        <p:spPr>
          <a:xfrm>
            <a:off x="585216" y="768096"/>
            <a:ext cx="10698480" cy="347472"/>
          </a:xfrm>
          <a:prstGeom prst="rect">
            <a:avLst/>
          </a:prstGeom>
          <a:noFill/>
          <a:ln/>
        </p:spPr>
        <p:txBody>
          <a:bodyPr wrap="square" lIns="0" tIns="0" rIns="0" bIns="0" rtlCol="0" anchor="ctr">
            <a:normAutofit/>
          </a:bodyPr>
          <a:lstStyle/>
          <a:p>
            <a:pPr indent="0" marL="0">
              <a:buNone/>
            </a:pPr>
            <a:r>
              <a:rPr lang="en-US" sz="1150" dirty="0">
                <a:solidFill>
                  <a:srgbClr val="FFFFFF"/>
                </a:solidFill>
                <a:latin typeface="Aptos" pitchFamily="34" charset="0"/>
                <a:ea typeface="Aptos" pitchFamily="34" charset="-122"/>
                <a:cs typeface="Aptos" pitchFamily="34" charset="-120"/>
              </a:rPr>
              <a:t>Notre Dame goes for it 40.7% in midfield versus 27.1% nationally.</a:t>
            </a:r>
            <a:endParaRPr lang="en-US" sz="1150" dirty="0"/>
          </a:p>
        </p:txBody>
      </p:sp>
      <p:sp>
        <p:nvSpPr>
          <p:cNvPr id="5" name="Shape 3"/>
          <p:cNvSpPr/>
          <p:nvPr/>
        </p:nvSpPr>
        <p:spPr>
          <a:xfrm>
            <a:off x="548640" y="6364224"/>
            <a:ext cx="11109960" cy="0"/>
          </a:xfrm>
          <a:prstGeom prst="line">
            <a:avLst/>
          </a:prstGeom>
          <a:noFill/>
          <a:ln w="10160">
            <a:solidFill>
              <a:srgbClr val="C99700">
                <a:alpha val="80000"/>
              </a:srgbClr>
            </a:solidFill>
            <a:prstDash val="solid"/>
          </a:ln>
        </p:spPr>
      </p:sp>
      <p:sp>
        <p:nvSpPr>
          <p:cNvPr id="6" name="Text 4"/>
          <p:cNvSpPr/>
          <p:nvPr/>
        </p:nvSpPr>
        <p:spPr>
          <a:xfrm>
            <a:off x="594360" y="6446520"/>
            <a:ext cx="9875520" cy="201168"/>
          </a:xfrm>
          <a:prstGeom prst="rect">
            <a:avLst/>
          </a:prstGeom>
          <a:noFill/>
          <a:ln/>
        </p:spPr>
        <p:txBody>
          <a:bodyPr wrap="square" lIns="0" tIns="0" rIns="0" bIns="0" rtlCol="0" anchor="ctr"/>
          <a:lstStyle/>
          <a:p>
            <a:pPr indent="0" marL="0">
              <a:buNone/>
            </a:pPr>
            <a:r>
              <a:rPr lang="en-US" sz="780" dirty="0">
                <a:solidFill>
                  <a:srgbClr val="D6DEE8"/>
                </a:solidFill>
                <a:latin typeface="Aptos" pitchFamily="34" charset="0"/>
                <a:ea typeface="Aptos" pitchFamily="34" charset="-122"/>
                <a:cs typeface="Aptos" pitchFamily="34" charset="-120"/>
              </a:rPr>
              <a:t>2023–2025 FBS play-by-play • CollegeFootballData • Fourth-down decisions only</a:t>
            </a:r>
            <a:endParaRPr lang="en-US" sz="780" dirty="0"/>
          </a:p>
        </p:txBody>
      </p:sp>
      <p:sp>
        <p:nvSpPr>
          <p:cNvPr id="7" name="Text 5"/>
          <p:cNvSpPr/>
          <p:nvPr/>
        </p:nvSpPr>
        <p:spPr>
          <a:xfrm>
            <a:off x="11201400" y="6419088"/>
            <a:ext cx="457200" cy="228600"/>
          </a:xfrm>
          <a:prstGeom prst="rect">
            <a:avLst/>
          </a:prstGeom>
          <a:noFill/>
          <a:ln/>
        </p:spPr>
        <p:txBody>
          <a:bodyPr wrap="square" lIns="0" tIns="0" rIns="0" bIns="0" rtlCol="0" anchor="ctr"/>
          <a:lstStyle/>
          <a:p>
            <a:pPr algn="r" indent="0" marL="0">
              <a:buNone/>
            </a:pPr>
            <a:r>
              <a:rPr lang="en-US" sz="800" b="1" dirty="0">
                <a:solidFill>
                  <a:srgbClr val="C99700"/>
                </a:solidFill>
                <a:latin typeface="Aptos" pitchFamily="34" charset="0"/>
                <a:ea typeface="Aptos" pitchFamily="34" charset="-122"/>
                <a:cs typeface="Aptos" pitchFamily="34" charset="-120"/>
              </a:rPr>
              <a:t>07</a:t>
            </a:r>
            <a:endParaRPr lang="en-US" sz="800" dirty="0"/>
          </a:p>
        </p:txBody>
      </p:sp>
      <p:sp>
        <p:nvSpPr>
          <p:cNvPr id="8" name="Text 6"/>
          <p:cNvSpPr/>
          <p:nvPr/>
        </p:nvSpPr>
        <p:spPr>
          <a:xfrm>
            <a:off x="685800" y="1417320"/>
            <a:ext cx="4251960" cy="1965960"/>
          </a:xfrm>
          <a:prstGeom prst="rect">
            <a:avLst/>
          </a:prstGeom>
          <a:noFill/>
          <a:ln/>
        </p:spPr>
        <p:txBody>
          <a:bodyPr wrap="square" lIns="635" tIns="635" rIns="635" bIns="635" rtlCol="0" anchor="t">
            <a:normAutofit/>
          </a:bodyPr>
          <a:lstStyle/>
          <a:p>
            <a:pPr indent="0" marL="0">
              <a:buNone/>
            </a:pPr>
            <a:r>
              <a:rPr lang="en-US" sz="1240" dirty="0">
                <a:solidFill>
                  <a:srgbClr val="FFFFFF"/>
                </a:solidFill>
                <a:latin typeface="Aptos" pitchFamily="34" charset="0"/>
                <a:ea typeface="Aptos" pitchFamily="34" charset="-122"/>
                <a:cs typeface="Aptos" pitchFamily="34" charset="-120"/>
              </a:rPr>
              <a:t>• Midfield: Notre Dame 40.7% vs national 27.1%.
</a:t>
            </a:r>
            <a:pPr indent="0" marL="0">
              <a:buNone/>
            </a:pPr>
            <a:r>
              <a:rPr lang="en-US" sz="1240" dirty="0">
                <a:solidFill>
                  <a:srgbClr val="FFFFFF"/>
                </a:solidFill>
                <a:latin typeface="Aptos" pitchFamily="34" charset="0"/>
                <a:ea typeface="Aptos" pitchFamily="34" charset="-122"/>
                <a:cs typeface="Aptos" pitchFamily="34" charset="-120"/>
              </a:rPr>
              <a:t>• Own territory: Notre Dame 10.7% vs national 8.7%.
</a:t>
            </a:r>
            <a:pPr indent="0" marL="0">
              <a:buNone/>
            </a:pPr>
            <a:r>
              <a:rPr lang="en-US" sz="1240" dirty="0">
                <a:solidFill>
                  <a:srgbClr val="FFFFFF"/>
                </a:solidFill>
                <a:latin typeface="Aptos" pitchFamily="34" charset="0"/>
                <a:ea typeface="Aptos" pitchFamily="34" charset="-122"/>
                <a:cs typeface="Aptos" pitchFamily="34" charset="-120"/>
              </a:rPr>
              <a:t>• Red zone: Notre Dame 42.1% vs national 35.6%.</a:t>
            </a:r>
            <a:endParaRPr lang="en-US" sz="1240" dirty="0"/>
          </a:p>
        </p:txBody>
      </p:sp>
      <p:sp>
        <p:nvSpPr>
          <p:cNvPr id="9" name="Shape 7"/>
          <p:cNvSpPr/>
          <p:nvPr/>
        </p:nvSpPr>
        <p:spPr>
          <a:xfrm>
            <a:off x="685800" y="3675888"/>
            <a:ext cx="4251960" cy="713232"/>
          </a:xfrm>
          <a:prstGeom prst="roundRect">
            <a:avLst>
              <a:gd name="adj" fmla="val 10256"/>
            </a:avLst>
          </a:prstGeom>
          <a:solidFill>
            <a:srgbClr val="152D4B"/>
          </a:solidFill>
          <a:ln w="13970">
            <a:solidFill>
              <a:srgbClr val="C99700">
                <a:alpha val="85000"/>
              </a:srgbClr>
            </a:solidFill>
            <a:prstDash val="solid"/>
          </a:ln>
        </p:spPr>
      </p:sp>
      <p:sp>
        <p:nvSpPr>
          <p:cNvPr id="10" name="Text 8"/>
          <p:cNvSpPr/>
          <p:nvPr/>
        </p:nvSpPr>
        <p:spPr>
          <a:xfrm>
            <a:off x="850392" y="3803904"/>
            <a:ext cx="3922776" cy="201168"/>
          </a:xfrm>
          <a:prstGeom prst="rect">
            <a:avLst/>
          </a:prstGeom>
          <a:noFill/>
          <a:ln/>
        </p:spPr>
        <p:txBody>
          <a:bodyPr wrap="square" lIns="0" tIns="0" rIns="0" bIns="0" rtlCol="0" anchor="ctr"/>
          <a:lstStyle/>
          <a:p>
            <a:pPr indent="0" marL="0">
              <a:buNone/>
            </a:pPr>
            <a:r>
              <a:rPr lang="en-US" sz="870" b="1" dirty="0">
                <a:solidFill>
                  <a:srgbClr val="C99700"/>
                </a:solidFill>
              </a:rPr>
              <a:t>INSIGHT</a:t>
            </a:r>
            <a:endParaRPr lang="en-US" sz="870" dirty="0"/>
          </a:p>
        </p:txBody>
      </p:sp>
      <p:sp>
        <p:nvSpPr>
          <p:cNvPr id="11" name="Text 9"/>
          <p:cNvSpPr/>
          <p:nvPr/>
        </p:nvSpPr>
        <p:spPr>
          <a:xfrm>
            <a:off x="850392" y="4059936"/>
            <a:ext cx="392277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Notre Dame shows a more aggressive profile in the key zone.</a:t>
            </a:r>
            <a:endParaRPr lang="en-US" sz="1220" dirty="0"/>
          </a:p>
        </p:txBody>
      </p:sp>
      <p:sp>
        <p:nvSpPr>
          <p:cNvPr id="12" name="Shape 10"/>
          <p:cNvSpPr/>
          <p:nvPr/>
        </p:nvSpPr>
        <p:spPr>
          <a:xfrm>
            <a:off x="685800" y="4590288"/>
            <a:ext cx="4251960" cy="713232"/>
          </a:xfrm>
          <a:prstGeom prst="roundRect">
            <a:avLst>
              <a:gd name="adj" fmla="val 10256"/>
            </a:avLst>
          </a:prstGeom>
          <a:solidFill>
            <a:srgbClr val="152D4B"/>
          </a:solidFill>
          <a:ln w="13970">
            <a:solidFill>
              <a:srgbClr val="C99700">
                <a:alpha val="85000"/>
              </a:srgbClr>
            </a:solidFill>
            <a:prstDash val="solid"/>
          </a:ln>
        </p:spPr>
      </p:sp>
      <p:sp>
        <p:nvSpPr>
          <p:cNvPr id="13" name="Text 11"/>
          <p:cNvSpPr/>
          <p:nvPr/>
        </p:nvSpPr>
        <p:spPr>
          <a:xfrm>
            <a:off x="850392" y="4718304"/>
            <a:ext cx="3922776" cy="201168"/>
          </a:xfrm>
          <a:prstGeom prst="rect">
            <a:avLst/>
          </a:prstGeom>
          <a:noFill/>
          <a:ln/>
        </p:spPr>
        <p:txBody>
          <a:bodyPr wrap="square" lIns="0" tIns="0" rIns="0" bIns="0" rtlCol="0" anchor="ctr"/>
          <a:lstStyle/>
          <a:p>
            <a:pPr indent="0" marL="0">
              <a:buNone/>
            </a:pPr>
            <a:r>
              <a:rPr lang="en-US" sz="870" b="1" dirty="0">
                <a:solidFill>
                  <a:srgbClr val="C99700"/>
                </a:solidFill>
              </a:rPr>
              <a:t>IMPLICATION</a:t>
            </a:r>
            <a:endParaRPr lang="en-US" sz="870" dirty="0"/>
          </a:p>
        </p:txBody>
      </p:sp>
      <p:sp>
        <p:nvSpPr>
          <p:cNvPr id="14" name="Text 12"/>
          <p:cNvSpPr/>
          <p:nvPr/>
        </p:nvSpPr>
        <p:spPr>
          <a:xfrm>
            <a:off x="850392" y="4974336"/>
            <a:ext cx="392277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That makes ND a useful case study rather than just another team comparison.</a:t>
            </a:r>
            <a:endParaRPr lang="en-US" sz="1220" dirty="0"/>
          </a:p>
        </p:txBody>
      </p:sp>
      <p:sp>
        <p:nvSpPr>
          <p:cNvPr id="15" name="Shape 13"/>
          <p:cNvSpPr/>
          <p:nvPr/>
        </p:nvSpPr>
        <p:spPr>
          <a:xfrm>
            <a:off x="5184648" y="1280160"/>
            <a:ext cx="6501384" cy="3941064"/>
          </a:xfrm>
          <a:prstGeom prst="roundRect">
            <a:avLst/>
          </a:prstGeom>
          <a:solidFill>
            <a:srgbClr val="FFFFFF"/>
          </a:solidFill>
          <a:ln w="6350">
            <a:solidFill>
              <a:srgbClr val="D0D7E2"/>
            </a:solidFill>
            <a:prstDash val="solid"/>
          </a:ln>
        </p:spPr>
      </p:sp>
      <p:pic>
        <p:nvPicPr>
          <p:cNvPr id="16" name="Image 0" descr="/mnt/data/extracted_pptx/ppt/media/image4.png">    </p:cNvPr>
          <p:cNvPicPr>
            <a:picLocks noChangeAspect="1"/>
          </p:cNvPicPr>
          <p:nvPr/>
        </p:nvPicPr>
        <p:blipFill>
          <a:blip r:embed="rId1"/>
          <a:stretch>
            <a:fillRect/>
          </a:stretch>
        </p:blipFill>
        <p:spPr>
          <a:xfrm>
            <a:off x="5257800" y="1353797"/>
            <a:ext cx="6355080" cy="3793790"/>
          </a:xfrm>
          <a:prstGeom prst="rect">
            <a:avLst/>
          </a:prstGeom>
        </p:spPr>
      </p:pic>
      <p:sp>
        <p:nvSpPr>
          <p:cNvPr id="17" name="Shape 14"/>
          <p:cNvSpPr/>
          <p:nvPr/>
        </p:nvSpPr>
        <p:spPr>
          <a:xfrm>
            <a:off x="7150608" y="5559552"/>
            <a:ext cx="3063240" cy="566928"/>
          </a:xfrm>
          <a:prstGeom prst="roundRect">
            <a:avLst/>
          </a:prstGeom>
          <a:solidFill>
            <a:srgbClr val="102D4D"/>
          </a:solidFill>
          <a:ln w="12700">
            <a:solidFill>
              <a:srgbClr val="C99700"/>
            </a:solidFill>
            <a:prstDash val="solid"/>
          </a:ln>
        </p:spPr>
      </p:sp>
      <p:sp>
        <p:nvSpPr>
          <p:cNvPr id="18" name="Text 15"/>
          <p:cNvSpPr/>
          <p:nvPr/>
        </p:nvSpPr>
        <p:spPr>
          <a:xfrm>
            <a:off x="7278624" y="5669280"/>
            <a:ext cx="2807208" cy="320040"/>
          </a:xfrm>
          <a:prstGeom prst="rect">
            <a:avLst/>
          </a:prstGeom>
          <a:noFill/>
          <a:ln/>
        </p:spPr>
        <p:txBody>
          <a:bodyPr wrap="square" lIns="0" tIns="0" rIns="0" bIns="0" rtlCol="0" anchor="ctr">
            <a:normAutofit/>
          </a:bodyPr>
          <a:lstStyle/>
          <a:p>
            <a:pPr algn="ctr" indent="0" marL="0">
              <a:buNone/>
            </a:pPr>
            <a:r>
              <a:rPr lang="en-US" sz="1100" b="1" dirty="0">
                <a:solidFill>
                  <a:srgbClr val="C99700"/>
                </a:solidFill>
              </a:rPr>
              <a:t>ND midfield: +13.6 pts vs national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109728"/>
            <a:ext cx="4114800" cy="164592"/>
          </a:xfrm>
          <a:prstGeom prst="rect">
            <a:avLst/>
          </a:prstGeom>
          <a:noFill/>
          <a:ln/>
        </p:spPr>
        <p:txBody>
          <a:bodyPr wrap="square" lIns="0" tIns="0" rIns="0" bIns="0" rtlCol="0" anchor="ctr"/>
          <a:lstStyle/>
          <a:p>
            <a:pPr indent="0" marL="0">
              <a:buNone/>
            </a:pPr>
            <a:r>
              <a:rPr lang="en-US" sz="750" b="1" dirty="0">
                <a:solidFill>
                  <a:srgbClr val="CCD6E0"/>
                </a:solidFill>
              </a:rPr>
              <a:t>NOTRE DAME CASE STUDY</a:t>
            </a:r>
            <a:endParaRPr lang="en-US" sz="750" dirty="0"/>
          </a:p>
        </p:txBody>
      </p:sp>
      <p:sp>
        <p:nvSpPr>
          <p:cNvPr id="3" name="Text 1"/>
          <p:cNvSpPr/>
          <p:nvPr/>
        </p:nvSpPr>
        <p:spPr>
          <a:xfrm>
            <a:off x="566928" y="310896"/>
            <a:ext cx="10881360" cy="384048"/>
          </a:xfrm>
          <a:prstGeom prst="rect">
            <a:avLst/>
          </a:prstGeom>
          <a:noFill/>
          <a:ln/>
        </p:spPr>
        <p:txBody>
          <a:bodyPr wrap="square" lIns="0" tIns="0" rIns="0" bIns="0" rtlCol="0" anchor="ctr">
            <a:normAutofit/>
          </a:bodyPr>
          <a:lstStyle/>
          <a:p>
            <a:pPr indent="0" marL="0">
              <a:buNone/>
            </a:pPr>
            <a:r>
              <a:rPr lang="en-US" sz="2350" b="1" dirty="0">
                <a:solidFill>
                  <a:srgbClr val="C99700"/>
                </a:solidFill>
                <a:latin typeface="Aptos Display" pitchFamily="34" charset="0"/>
                <a:ea typeface="Aptos Display" pitchFamily="34" charset="-122"/>
                <a:cs typeface="Aptos Display" pitchFamily="34" charset="-120"/>
              </a:rPr>
              <a:t>Notre Dame is especially aggressive in short yardage.</a:t>
            </a:r>
            <a:endParaRPr lang="en-US" sz="2350" dirty="0"/>
          </a:p>
        </p:txBody>
      </p:sp>
      <p:sp>
        <p:nvSpPr>
          <p:cNvPr id="4" name="Text 2"/>
          <p:cNvSpPr/>
          <p:nvPr/>
        </p:nvSpPr>
        <p:spPr>
          <a:xfrm>
            <a:off x="585216" y="768096"/>
            <a:ext cx="10698480" cy="347472"/>
          </a:xfrm>
          <a:prstGeom prst="rect">
            <a:avLst/>
          </a:prstGeom>
          <a:noFill/>
          <a:ln/>
        </p:spPr>
        <p:txBody>
          <a:bodyPr wrap="square" lIns="0" tIns="0" rIns="0" bIns="0" rtlCol="0" anchor="ctr">
            <a:normAutofit/>
          </a:bodyPr>
          <a:lstStyle/>
          <a:p>
            <a:pPr indent="0" marL="0">
              <a:buNone/>
            </a:pPr>
            <a:r>
              <a:rPr lang="en-US" sz="1150" dirty="0">
                <a:solidFill>
                  <a:srgbClr val="FFFFFF"/>
                </a:solidFill>
                <a:latin typeface="Aptos" pitchFamily="34" charset="0"/>
                <a:ea typeface="Aptos" pitchFamily="34" charset="-122"/>
                <a:cs typeface="Aptos" pitchFamily="34" charset="-120"/>
              </a:rPr>
              <a:t>Notre Dame is situationally aggressive, not universally aggressive.</a:t>
            </a:r>
            <a:endParaRPr lang="en-US" sz="1150" dirty="0"/>
          </a:p>
        </p:txBody>
      </p:sp>
      <p:sp>
        <p:nvSpPr>
          <p:cNvPr id="5" name="Shape 3"/>
          <p:cNvSpPr/>
          <p:nvPr/>
        </p:nvSpPr>
        <p:spPr>
          <a:xfrm>
            <a:off x="548640" y="6364224"/>
            <a:ext cx="11109960" cy="0"/>
          </a:xfrm>
          <a:prstGeom prst="line">
            <a:avLst/>
          </a:prstGeom>
          <a:noFill/>
          <a:ln w="10160">
            <a:solidFill>
              <a:srgbClr val="C99700">
                <a:alpha val="80000"/>
              </a:srgbClr>
            </a:solidFill>
            <a:prstDash val="solid"/>
          </a:ln>
        </p:spPr>
      </p:sp>
      <p:sp>
        <p:nvSpPr>
          <p:cNvPr id="6" name="Text 4"/>
          <p:cNvSpPr/>
          <p:nvPr/>
        </p:nvSpPr>
        <p:spPr>
          <a:xfrm>
            <a:off x="594360" y="6446520"/>
            <a:ext cx="9875520" cy="201168"/>
          </a:xfrm>
          <a:prstGeom prst="rect">
            <a:avLst/>
          </a:prstGeom>
          <a:noFill/>
          <a:ln/>
        </p:spPr>
        <p:txBody>
          <a:bodyPr wrap="square" lIns="0" tIns="0" rIns="0" bIns="0" rtlCol="0" anchor="ctr"/>
          <a:lstStyle/>
          <a:p>
            <a:pPr indent="0" marL="0">
              <a:buNone/>
            </a:pPr>
            <a:r>
              <a:rPr lang="en-US" sz="780" dirty="0">
                <a:solidFill>
                  <a:srgbClr val="D6DEE8"/>
                </a:solidFill>
                <a:latin typeface="Aptos" pitchFamily="34" charset="0"/>
                <a:ea typeface="Aptos" pitchFamily="34" charset="-122"/>
                <a:cs typeface="Aptos" pitchFamily="34" charset="-120"/>
              </a:rPr>
              <a:t>2023–2025 FBS play-by-play • CollegeFootballData • Fourth-down decisions only</a:t>
            </a:r>
            <a:endParaRPr lang="en-US" sz="780" dirty="0"/>
          </a:p>
        </p:txBody>
      </p:sp>
      <p:sp>
        <p:nvSpPr>
          <p:cNvPr id="7" name="Text 5"/>
          <p:cNvSpPr/>
          <p:nvPr/>
        </p:nvSpPr>
        <p:spPr>
          <a:xfrm>
            <a:off x="11201400" y="6419088"/>
            <a:ext cx="457200" cy="228600"/>
          </a:xfrm>
          <a:prstGeom prst="rect">
            <a:avLst/>
          </a:prstGeom>
          <a:noFill/>
          <a:ln/>
        </p:spPr>
        <p:txBody>
          <a:bodyPr wrap="square" lIns="0" tIns="0" rIns="0" bIns="0" rtlCol="0" anchor="ctr"/>
          <a:lstStyle/>
          <a:p>
            <a:pPr algn="r" indent="0" marL="0">
              <a:buNone/>
            </a:pPr>
            <a:r>
              <a:rPr lang="en-US" sz="800" b="1" dirty="0">
                <a:solidFill>
                  <a:srgbClr val="C99700"/>
                </a:solidFill>
                <a:latin typeface="Aptos" pitchFamily="34" charset="0"/>
                <a:ea typeface="Aptos" pitchFamily="34" charset="-122"/>
                <a:cs typeface="Aptos" pitchFamily="34" charset="-120"/>
              </a:rPr>
              <a:t>08</a:t>
            </a:r>
            <a:endParaRPr lang="en-US" sz="800" dirty="0"/>
          </a:p>
        </p:txBody>
      </p:sp>
      <p:sp>
        <p:nvSpPr>
          <p:cNvPr id="8" name="Text 6"/>
          <p:cNvSpPr/>
          <p:nvPr/>
        </p:nvSpPr>
        <p:spPr>
          <a:xfrm>
            <a:off x="685800" y="1417320"/>
            <a:ext cx="4251960" cy="1965960"/>
          </a:xfrm>
          <a:prstGeom prst="rect">
            <a:avLst/>
          </a:prstGeom>
          <a:noFill/>
          <a:ln/>
        </p:spPr>
        <p:txBody>
          <a:bodyPr wrap="square" lIns="635" tIns="635" rIns="635" bIns="635" rtlCol="0" anchor="t">
            <a:normAutofit/>
          </a:bodyPr>
          <a:lstStyle/>
          <a:p>
            <a:pPr indent="0" marL="0">
              <a:buNone/>
            </a:pPr>
            <a:r>
              <a:rPr lang="en-US" sz="1240" dirty="0">
                <a:solidFill>
                  <a:srgbClr val="FFFFFF"/>
                </a:solidFill>
                <a:latin typeface="Aptos" pitchFamily="34" charset="0"/>
                <a:ea typeface="Aptos" pitchFamily="34" charset="-122"/>
                <a:cs typeface="Aptos" pitchFamily="34" charset="-120"/>
              </a:rPr>
              <a:t>• 4th &amp; 1: Notre Dame 93.9% vs national 74.6%.
</a:t>
            </a:r>
            <a:pPr indent="0" marL="0">
              <a:buNone/>
            </a:pPr>
            <a:r>
              <a:rPr lang="en-US" sz="1240" dirty="0">
                <a:solidFill>
                  <a:srgbClr val="FFFFFF"/>
                </a:solidFill>
                <a:latin typeface="Aptos" pitchFamily="34" charset="0"/>
                <a:ea typeface="Aptos" pitchFamily="34" charset="-122"/>
                <a:cs typeface="Aptos" pitchFamily="34" charset="-120"/>
              </a:rPr>
              <a:t>• 4th &amp; 2: Notre Dame 68.4% vs national 49.1%.
</a:t>
            </a:r>
            <a:pPr indent="0" marL="0">
              <a:buNone/>
            </a:pPr>
            <a:r>
              <a:rPr lang="en-US" sz="1240" dirty="0">
                <a:solidFill>
                  <a:srgbClr val="FFFFFF"/>
                </a:solidFill>
                <a:latin typeface="Aptos" pitchFamily="34" charset="0"/>
                <a:ea typeface="Aptos" pitchFamily="34" charset="-122"/>
                <a:cs typeface="Aptos" pitchFamily="34" charset="-120"/>
              </a:rPr>
              <a:t>• At longer distances, Notre Dame is closer to or below national behavior.</a:t>
            </a:r>
            <a:endParaRPr lang="en-US" sz="1240" dirty="0"/>
          </a:p>
        </p:txBody>
      </p:sp>
      <p:sp>
        <p:nvSpPr>
          <p:cNvPr id="9" name="Shape 7"/>
          <p:cNvSpPr/>
          <p:nvPr/>
        </p:nvSpPr>
        <p:spPr>
          <a:xfrm>
            <a:off x="685800" y="3675888"/>
            <a:ext cx="4251960" cy="713232"/>
          </a:xfrm>
          <a:prstGeom prst="roundRect">
            <a:avLst>
              <a:gd name="adj" fmla="val 10256"/>
            </a:avLst>
          </a:prstGeom>
          <a:solidFill>
            <a:srgbClr val="152D4B"/>
          </a:solidFill>
          <a:ln w="13970">
            <a:solidFill>
              <a:srgbClr val="C99700">
                <a:alpha val="85000"/>
              </a:srgbClr>
            </a:solidFill>
            <a:prstDash val="solid"/>
          </a:ln>
        </p:spPr>
      </p:sp>
      <p:sp>
        <p:nvSpPr>
          <p:cNvPr id="10" name="Text 8"/>
          <p:cNvSpPr/>
          <p:nvPr/>
        </p:nvSpPr>
        <p:spPr>
          <a:xfrm>
            <a:off x="850392" y="3803904"/>
            <a:ext cx="3922776" cy="201168"/>
          </a:xfrm>
          <a:prstGeom prst="rect">
            <a:avLst/>
          </a:prstGeom>
          <a:noFill/>
          <a:ln/>
        </p:spPr>
        <p:txBody>
          <a:bodyPr wrap="square" lIns="0" tIns="0" rIns="0" bIns="0" rtlCol="0" anchor="ctr"/>
          <a:lstStyle/>
          <a:p>
            <a:pPr indent="0" marL="0">
              <a:buNone/>
            </a:pPr>
            <a:r>
              <a:rPr lang="en-US" sz="870" b="1" dirty="0">
                <a:solidFill>
                  <a:srgbClr val="C99700"/>
                </a:solidFill>
              </a:rPr>
              <a:t>INSIGHT</a:t>
            </a:r>
            <a:endParaRPr lang="en-US" sz="870" dirty="0"/>
          </a:p>
        </p:txBody>
      </p:sp>
      <p:sp>
        <p:nvSpPr>
          <p:cNvPr id="11" name="Text 9"/>
          <p:cNvSpPr/>
          <p:nvPr/>
        </p:nvSpPr>
        <p:spPr>
          <a:xfrm>
            <a:off x="850392" y="4059936"/>
            <a:ext cx="392277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Notre Dame’s aggression is concentrated in favorable situations.</a:t>
            </a:r>
            <a:endParaRPr lang="en-US" sz="1220" dirty="0"/>
          </a:p>
        </p:txBody>
      </p:sp>
      <p:sp>
        <p:nvSpPr>
          <p:cNvPr id="12" name="Shape 10"/>
          <p:cNvSpPr/>
          <p:nvPr/>
        </p:nvSpPr>
        <p:spPr>
          <a:xfrm>
            <a:off x="685800" y="4590288"/>
            <a:ext cx="4251960" cy="713232"/>
          </a:xfrm>
          <a:prstGeom prst="roundRect">
            <a:avLst>
              <a:gd name="adj" fmla="val 10256"/>
            </a:avLst>
          </a:prstGeom>
          <a:solidFill>
            <a:srgbClr val="152D4B"/>
          </a:solidFill>
          <a:ln w="13970">
            <a:solidFill>
              <a:srgbClr val="C99700">
                <a:alpha val="85000"/>
              </a:srgbClr>
            </a:solidFill>
            <a:prstDash val="solid"/>
          </a:ln>
        </p:spPr>
      </p:sp>
      <p:sp>
        <p:nvSpPr>
          <p:cNvPr id="13" name="Text 11"/>
          <p:cNvSpPr/>
          <p:nvPr/>
        </p:nvSpPr>
        <p:spPr>
          <a:xfrm>
            <a:off x="850392" y="4718304"/>
            <a:ext cx="3922776" cy="201168"/>
          </a:xfrm>
          <a:prstGeom prst="rect">
            <a:avLst/>
          </a:prstGeom>
          <a:noFill/>
          <a:ln/>
        </p:spPr>
        <p:txBody>
          <a:bodyPr wrap="square" lIns="0" tIns="0" rIns="0" bIns="0" rtlCol="0" anchor="ctr"/>
          <a:lstStyle/>
          <a:p>
            <a:pPr indent="0" marL="0">
              <a:buNone/>
            </a:pPr>
            <a:r>
              <a:rPr lang="en-US" sz="870" b="1" dirty="0">
                <a:solidFill>
                  <a:srgbClr val="C99700"/>
                </a:solidFill>
              </a:rPr>
              <a:t>IMPLICATION</a:t>
            </a:r>
            <a:endParaRPr lang="en-US" sz="870" dirty="0"/>
          </a:p>
        </p:txBody>
      </p:sp>
      <p:sp>
        <p:nvSpPr>
          <p:cNvPr id="14" name="Text 12"/>
          <p:cNvSpPr/>
          <p:nvPr/>
        </p:nvSpPr>
        <p:spPr>
          <a:xfrm>
            <a:off x="850392" y="4974336"/>
            <a:ext cx="392277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That distinction keeps the analysis balanced and avoids overstating the case.</a:t>
            </a:r>
            <a:endParaRPr lang="en-US" sz="1220" dirty="0"/>
          </a:p>
        </p:txBody>
      </p:sp>
      <p:sp>
        <p:nvSpPr>
          <p:cNvPr id="15" name="Shape 13"/>
          <p:cNvSpPr/>
          <p:nvPr/>
        </p:nvSpPr>
        <p:spPr>
          <a:xfrm>
            <a:off x="5184648" y="1280160"/>
            <a:ext cx="6501384" cy="3941064"/>
          </a:xfrm>
          <a:prstGeom prst="roundRect">
            <a:avLst/>
          </a:prstGeom>
          <a:solidFill>
            <a:srgbClr val="FFFFFF"/>
          </a:solidFill>
          <a:ln w="6350">
            <a:solidFill>
              <a:srgbClr val="D0D7E2"/>
            </a:solidFill>
            <a:prstDash val="solid"/>
          </a:ln>
        </p:spPr>
      </p:sp>
      <p:pic>
        <p:nvPicPr>
          <p:cNvPr id="16" name="Image 0" descr="/mnt/data/extracted_pptx/ppt/media/image5.png">    </p:cNvPr>
          <p:cNvPicPr>
            <a:picLocks noChangeAspect="1"/>
          </p:cNvPicPr>
          <p:nvPr/>
        </p:nvPicPr>
        <p:blipFill>
          <a:blip r:embed="rId1"/>
          <a:stretch>
            <a:fillRect/>
          </a:stretch>
        </p:blipFill>
        <p:spPr>
          <a:xfrm>
            <a:off x="5260569" y="1353312"/>
            <a:ext cx="6349542" cy="3794760"/>
          </a:xfrm>
          <a:prstGeom prst="rect">
            <a:avLst/>
          </a:prstGeom>
        </p:spPr>
      </p:pic>
      <p:sp>
        <p:nvSpPr>
          <p:cNvPr id="17" name="Shape 14"/>
          <p:cNvSpPr/>
          <p:nvPr/>
        </p:nvSpPr>
        <p:spPr>
          <a:xfrm>
            <a:off x="7296912" y="5559552"/>
            <a:ext cx="2971800" cy="566928"/>
          </a:xfrm>
          <a:prstGeom prst="roundRect">
            <a:avLst/>
          </a:prstGeom>
          <a:solidFill>
            <a:srgbClr val="102D4D"/>
          </a:solidFill>
          <a:ln w="12700">
            <a:solidFill>
              <a:srgbClr val="C99700"/>
            </a:solidFill>
            <a:prstDash val="solid"/>
          </a:ln>
        </p:spPr>
      </p:sp>
      <p:sp>
        <p:nvSpPr>
          <p:cNvPr id="18" name="Text 15"/>
          <p:cNvSpPr/>
          <p:nvPr/>
        </p:nvSpPr>
        <p:spPr>
          <a:xfrm>
            <a:off x="7424928" y="5669280"/>
            <a:ext cx="2715768" cy="320040"/>
          </a:xfrm>
          <a:prstGeom prst="rect">
            <a:avLst/>
          </a:prstGeom>
          <a:noFill/>
          <a:ln/>
        </p:spPr>
        <p:txBody>
          <a:bodyPr wrap="square" lIns="0" tIns="0" rIns="0" bIns="0" rtlCol="0" anchor="ctr">
            <a:normAutofit/>
          </a:bodyPr>
          <a:lstStyle/>
          <a:p>
            <a:pPr algn="ctr" indent="0" marL="0">
              <a:buNone/>
            </a:pPr>
            <a:r>
              <a:rPr lang="en-US" sz="1100" b="1" dirty="0">
                <a:solidFill>
                  <a:srgbClr val="C99700"/>
                </a:solidFill>
              </a:rPr>
              <a:t>Short-yardage edge is the ND signature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109728"/>
            <a:ext cx="4114800" cy="164592"/>
          </a:xfrm>
          <a:prstGeom prst="rect">
            <a:avLst/>
          </a:prstGeom>
          <a:noFill/>
          <a:ln/>
        </p:spPr>
        <p:txBody>
          <a:bodyPr wrap="square" lIns="0" tIns="0" rIns="0" bIns="0" rtlCol="0" anchor="ctr"/>
          <a:lstStyle/>
          <a:p>
            <a:pPr indent="0" marL="0">
              <a:buNone/>
            </a:pPr>
            <a:r>
              <a:rPr lang="en-US" sz="750" b="1" dirty="0">
                <a:solidFill>
                  <a:srgbClr val="CCD6E0"/>
                </a:solidFill>
              </a:rPr>
              <a:t>TEAM PROFILES</a:t>
            </a:r>
            <a:endParaRPr lang="en-US" sz="750" dirty="0"/>
          </a:p>
        </p:txBody>
      </p:sp>
      <p:sp>
        <p:nvSpPr>
          <p:cNvPr id="3" name="Text 1"/>
          <p:cNvSpPr/>
          <p:nvPr/>
        </p:nvSpPr>
        <p:spPr>
          <a:xfrm>
            <a:off x="566928" y="310896"/>
            <a:ext cx="10881360" cy="384048"/>
          </a:xfrm>
          <a:prstGeom prst="rect">
            <a:avLst/>
          </a:prstGeom>
          <a:noFill/>
          <a:ln/>
        </p:spPr>
        <p:txBody>
          <a:bodyPr wrap="square" lIns="0" tIns="0" rIns="0" bIns="0" rtlCol="0" anchor="ctr">
            <a:normAutofit/>
          </a:bodyPr>
          <a:lstStyle/>
          <a:p>
            <a:pPr indent="0" marL="0">
              <a:buNone/>
            </a:pPr>
            <a:r>
              <a:rPr lang="en-US" sz="2350" b="1" dirty="0">
                <a:solidFill>
                  <a:srgbClr val="C99700"/>
                </a:solidFill>
                <a:latin typeface="Aptos Display" pitchFamily="34" charset="0"/>
                <a:ea typeface="Aptos Display" pitchFamily="34" charset="-122"/>
                <a:cs typeface="Aptos Display" pitchFamily="34" charset="-120"/>
              </a:rPr>
              <a:t>Aggression can be measured relative to situation.</a:t>
            </a:r>
            <a:endParaRPr lang="en-US" sz="2350" dirty="0"/>
          </a:p>
        </p:txBody>
      </p:sp>
      <p:sp>
        <p:nvSpPr>
          <p:cNvPr id="4" name="Text 2"/>
          <p:cNvSpPr/>
          <p:nvPr/>
        </p:nvSpPr>
        <p:spPr>
          <a:xfrm>
            <a:off x="585216" y="768096"/>
            <a:ext cx="10698480" cy="347472"/>
          </a:xfrm>
          <a:prstGeom prst="rect">
            <a:avLst/>
          </a:prstGeom>
          <a:noFill/>
          <a:ln/>
        </p:spPr>
        <p:txBody>
          <a:bodyPr wrap="square" lIns="0" tIns="0" rIns="0" bIns="0" rtlCol="0" anchor="ctr">
            <a:normAutofit/>
          </a:bodyPr>
          <a:lstStyle/>
          <a:p>
            <a:pPr indent="0" marL="0">
              <a:buNone/>
            </a:pPr>
            <a:r>
              <a:rPr lang="en-US" sz="1150" dirty="0">
                <a:solidFill>
                  <a:srgbClr val="FFFFFF"/>
                </a:solidFill>
                <a:latin typeface="Aptos" pitchFamily="34" charset="0"/>
                <a:ea typeface="Aptos" pitchFamily="34" charset="-122"/>
                <a:cs typeface="Aptos" pitchFamily="34" charset="-120"/>
              </a:rPr>
              <a:t>The Version 1 index adjusts for distance bucket and field zone.</a:t>
            </a:r>
            <a:endParaRPr lang="en-US" sz="1150" dirty="0"/>
          </a:p>
        </p:txBody>
      </p:sp>
      <p:sp>
        <p:nvSpPr>
          <p:cNvPr id="5" name="Shape 3"/>
          <p:cNvSpPr/>
          <p:nvPr/>
        </p:nvSpPr>
        <p:spPr>
          <a:xfrm>
            <a:off x="548640" y="6364224"/>
            <a:ext cx="11109960" cy="0"/>
          </a:xfrm>
          <a:prstGeom prst="line">
            <a:avLst/>
          </a:prstGeom>
          <a:noFill/>
          <a:ln w="10160">
            <a:solidFill>
              <a:srgbClr val="C99700">
                <a:alpha val="80000"/>
              </a:srgbClr>
            </a:solidFill>
            <a:prstDash val="solid"/>
          </a:ln>
        </p:spPr>
      </p:sp>
      <p:sp>
        <p:nvSpPr>
          <p:cNvPr id="6" name="Text 4"/>
          <p:cNvSpPr/>
          <p:nvPr/>
        </p:nvSpPr>
        <p:spPr>
          <a:xfrm>
            <a:off x="594360" y="6446520"/>
            <a:ext cx="9875520" cy="201168"/>
          </a:xfrm>
          <a:prstGeom prst="rect">
            <a:avLst/>
          </a:prstGeom>
          <a:noFill/>
          <a:ln/>
        </p:spPr>
        <p:txBody>
          <a:bodyPr wrap="square" lIns="0" tIns="0" rIns="0" bIns="0" rtlCol="0" anchor="ctr"/>
          <a:lstStyle/>
          <a:p>
            <a:pPr indent="0" marL="0">
              <a:buNone/>
            </a:pPr>
            <a:r>
              <a:rPr lang="en-US" sz="780" dirty="0">
                <a:solidFill>
                  <a:srgbClr val="D6DEE8"/>
                </a:solidFill>
                <a:latin typeface="Aptos" pitchFamily="34" charset="0"/>
                <a:ea typeface="Aptos" pitchFamily="34" charset="-122"/>
                <a:cs typeface="Aptos" pitchFamily="34" charset="-120"/>
              </a:rPr>
              <a:t>2023–2025 FBS play-by-play • CollegeFootballData • Fourth-down decisions only</a:t>
            </a:r>
            <a:endParaRPr lang="en-US" sz="780" dirty="0"/>
          </a:p>
        </p:txBody>
      </p:sp>
      <p:sp>
        <p:nvSpPr>
          <p:cNvPr id="7" name="Text 5"/>
          <p:cNvSpPr/>
          <p:nvPr/>
        </p:nvSpPr>
        <p:spPr>
          <a:xfrm>
            <a:off x="11201400" y="6419088"/>
            <a:ext cx="457200" cy="228600"/>
          </a:xfrm>
          <a:prstGeom prst="rect">
            <a:avLst/>
          </a:prstGeom>
          <a:noFill/>
          <a:ln/>
        </p:spPr>
        <p:txBody>
          <a:bodyPr wrap="square" lIns="0" tIns="0" rIns="0" bIns="0" rtlCol="0" anchor="ctr"/>
          <a:lstStyle/>
          <a:p>
            <a:pPr algn="r" indent="0" marL="0">
              <a:buNone/>
            </a:pPr>
            <a:r>
              <a:rPr lang="en-US" sz="800" b="1" dirty="0">
                <a:solidFill>
                  <a:srgbClr val="C99700"/>
                </a:solidFill>
                <a:latin typeface="Aptos" pitchFamily="34" charset="0"/>
                <a:ea typeface="Aptos" pitchFamily="34" charset="-122"/>
                <a:cs typeface="Aptos" pitchFamily="34" charset="-120"/>
              </a:rPr>
              <a:t>09</a:t>
            </a:r>
            <a:endParaRPr lang="en-US" sz="800" dirty="0"/>
          </a:p>
        </p:txBody>
      </p:sp>
      <p:sp>
        <p:nvSpPr>
          <p:cNvPr id="8" name="Text 6"/>
          <p:cNvSpPr/>
          <p:nvPr/>
        </p:nvSpPr>
        <p:spPr>
          <a:xfrm>
            <a:off x="685800" y="1417320"/>
            <a:ext cx="4251960" cy="1965960"/>
          </a:xfrm>
          <a:prstGeom prst="rect">
            <a:avLst/>
          </a:prstGeom>
          <a:noFill/>
          <a:ln/>
        </p:spPr>
        <p:txBody>
          <a:bodyPr wrap="square" lIns="635" tIns="635" rIns="635" bIns="635" rtlCol="0" anchor="t">
            <a:normAutofit/>
          </a:bodyPr>
          <a:lstStyle/>
          <a:p>
            <a:pPr indent="0" marL="0">
              <a:buNone/>
            </a:pPr>
            <a:r>
              <a:rPr lang="en-US" sz="1240" dirty="0">
                <a:solidFill>
                  <a:srgbClr val="FFFFFF"/>
                </a:solidFill>
                <a:latin typeface="Aptos" pitchFamily="34" charset="0"/>
                <a:ea typeface="Aptos" pitchFamily="34" charset="-122"/>
                <a:cs typeface="Aptos" pitchFamily="34" charset="-120"/>
              </a:rPr>
              <a:t>• Baylor ranks #1 in the Version 1 Aggressiveness Index.
</a:t>
            </a:r>
            <a:pPr indent="0" marL="0">
              <a:buNone/>
            </a:pPr>
            <a:r>
              <a:rPr lang="en-US" sz="1240" dirty="0">
                <a:solidFill>
                  <a:srgbClr val="FFFFFF"/>
                </a:solidFill>
                <a:latin typeface="Aptos" pitchFamily="34" charset="0"/>
                <a:ea typeface="Aptos" pitchFamily="34" charset="-122"/>
                <a:cs typeface="Aptos" pitchFamily="34" charset="-120"/>
              </a:rPr>
              <a:t>• FAU, Army, North Texas, and Oregon State are major outliers.
</a:t>
            </a:r>
            <a:pPr indent="0" marL="0">
              <a:buNone/>
            </a:pPr>
            <a:r>
              <a:rPr lang="en-US" sz="1240" dirty="0">
                <a:solidFill>
                  <a:srgbClr val="FFFFFF"/>
                </a:solidFill>
                <a:latin typeface="Aptos" pitchFamily="34" charset="0"/>
                <a:ea typeface="Aptos" pitchFamily="34" charset="-122"/>
                <a:cs typeface="Aptos" pitchFamily="34" charset="-120"/>
              </a:rPr>
              <a:t>• The index compares actual go rate to expected go rate in similar situations.</a:t>
            </a:r>
            <a:endParaRPr lang="en-US" sz="1240" dirty="0"/>
          </a:p>
        </p:txBody>
      </p:sp>
      <p:sp>
        <p:nvSpPr>
          <p:cNvPr id="9" name="Shape 7"/>
          <p:cNvSpPr/>
          <p:nvPr/>
        </p:nvSpPr>
        <p:spPr>
          <a:xfrm>
            <a:off x="685800" y="3675888"/>
            <a:ext cx="4251960" cy="713232"/>
          </a:xfrm>
          <a:prstGeom prst="roundRect">
            <a:avLst>
              <a:gd name="adj" fmla="val 10256"/>
            </a:avLst>
          </a:prstGeom>
          <a:solidFill>
            <a:srgbClr val="152D4B"/>
          </a:solidFill>
          <a:ln w="13970">
            <a:solidFill>
              <a:srgbClr val="C99700">
                <a:alpha val="85000"/>
              </a:srgbClr>
            </a:solidFill>
            <a:prstDash val="solid"/>
          </a:ln>
        </p:spPr>
      </p:sp>
      <p:sp>
        <p:nvSpPr>
          <p:cNvPr id="10" name="Text 8"/>
          <p:cNvSpPr/>
          <p:nvPr/>
        </p:nvSpPr>
        <p:spPr>
          <a:xfrm>
            <a:off x="850392" y="3803904"/>
            <a:ext cx="3922776" cy="201168"/>
          </a:xfrm>
          <a:prstGeom prst="rect">
            <a:avLst/>
          </a:prstGeom>
          <a:noFill/>
          <a:ln/>
        </p:spPr>
        <p:txBody>
          <a:bodyPr wrap="square" lIns="0" tIns="0" rIns="0" bIns="0" rtlCol="0" anchor="ctr"/>
          <a:lstStyle/>
          <a:p>
            <a:pPr indent="0" marL="0">
              <a:buNone/>
            </a:pPr>
            <a:r>
              <a:rPr lang="en-US" sz="870" b="1" dirty="0">
                <a:solidFill>
                  <a:srgbClr val="C99700"/>
                </a:solidFill>
              </a:rPr>
              <a:t>INSIGHT</a:t>
            </a:r>
            <a:endParaRPr lang="en-US" sz="870" dirty="0"/>
          </a:p>
        </p:txBody>
      </p:sp>
      <p:sp>
        <p:nvSpPr>
          <p:cNvPr id="11" name="Text 9"/>
          <p:cNvSpPr/>
          <p:nvPr/>
        </p:nvSpPr>
        <p:spPr>
          <a:xfrm>
            <a:off x="850392" y="4059936"/>
            <a:ext cx="392277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Some programs consistently choose aggression even after contextual adjustment.</a:t>
            </a:r>
            <a:endParaRPr lang="en-US" sz="1220" dirty="0"/>
          </a:p>
        </p:txBody>
      </p:sp>
      <p:sp>
        <p:nvSpPr>
          <p:cNvPr id="12" name="Shape 10"/>
          <p:cNvSpPr/>
          <p:nvPr/>
        </p:nvSpPr>
        <p:spPr>
          <a:xfrm>
            <a:off x="685800" y="4590288"/>
            <a:ext cx="4251960" cy="713232"/>
          </a:xfrm>
          <a:prstGeom prst="roundRect">
            <a:avLst>
              <a:gd name="adj" fmla="val 10256"/>
            </a:avLst>
          </a:prstGeom>
          <a:solidFill>
            <a:srgbClr val="152D4B"/>
          </a:solidFill>
          <a:ln w="13970">
            <a:solidFill>
              <a:srgbClr val="C99700">
                <a:alpha val="85000"/>
              </a:srgbClr>
            </a:solidFill>
            <a:prstDash val="solid"/>
          </a:ln>
        </p:spPr>
      </p:sp>
      <p:sp>
        <p:nvSpPr>
          <p:cNvPr id="13" name="Text 11"/>
          <p:cNvSpPr/>
          <p:nvPr/>
        </p:nvSpPr>
        <p:spPr>
          <a:xfrm>
            <a:off x="850392" y="4718304"/>
            <a:ext cx="3922776" cy="201168"/>
          </a:xfrm>
          <a:prstGeom prst="rect">
            <a:avLst/>
          </a:prstGeom>
          <a:noFill/>
          <a:ln/>
        </p:spPr>
        <p:txBody>
          <a:bodyPr wrap="square" lIns="0" tIns="0" rIns="0" bIns="0" rtlCol="0" anchor="ctr"/>
          <a:lstStyle/>
          <a:p>
            <a:pPr indent="0" marL="0">
              <a:buNone/>
            </a:pPr>
            <a:r>
              <a:rPr lang="en-US" sz="870" b="1" dirty="0">
                <a:solidFill>
                  <a:srgbClr val="C99700"/>
                </a:solidFill>
              </a:rPr>
              <a:t>IMPLICATION</a:t>
            </a:r>
            <a:endParaRPr lang="en-US" sz="870" dirty="0"/>
          </a:p>
        </p:txBody>
      </p:sp>
      <p:sp>
        <p:nvSpPr>
          <p:cNvPr id="14" name="Text 12"/>
          <p:cNvSpPr/>
          <p:nvPr/>
        </p:nvSpPr>
        <p:spPr>
          <a:xfrm>
            <a:off x="850392" y="4974336"/>
            <a:ext cx="392277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This turns fourth-down behavior into a comparable team profile.</a:t>
            </a:r>
            <a:endParaRPr lang="en-US" sz="1220" dirty="0"/>
          </a:p>
        </p:txBody>
      </p:sp>
      <p:sp>
        <p:nvSpPr>
          <p:cNvPr id="15" name="Shape 13"/>
          <p:cNvSpPr/>
          <p:nvPr/>
        </p:nvSpPr>
        <p:spPr>
          <a:xfrm>
            <a:off x="5184648" y="1280160"/>
            <a:ext cx="6501384" cy="3941064"/>
          </a:xfrm>
          <a:prstGeom prst="roundRect">
            <a:avLst/>
          </a:prstGeom>
          <a:solidFill>
            <a:srgbClr val="FFFFFF"/>
          </a:solidFill>
          <a:ln w="6350">
            <a:solidFill>
              <a:srgbClr val="D0D7E2"/>
            </a:solidFill>
            <a:prstDash val="solid"/>
          </a:ln>
        </p:spPr>
      </p:sp>
      <p:pic>
        <p:nvPicPr>
          <p:cNvPr id="16" name="Image 0" descr="/mnt/data/extracted_pptx/ppt/media/image6.png">    </p:cNvPr>
          <p:cNvPicPr>
            <a:picLocks noChangeAspect="1"/>
          </p:cNvPicPr>
          <p:nvPr/>
        </p:nvPicPr>
        <p:blipFill>
          <a:blip r:embed="rId1"/>
          <a:stretch>
            <a:fillRect/>
          </a:stretch>
        </p:blipFill>
        <p:spPr>
          <a:xfrm>
            <a:off x="5720092" y="1353312"/>
            <a:ext cx="5430496" cy="37947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109728"/>
            <a:ext cx="4114800" cy="164592"/>
          </a:xfrm>
          <a:prstGeom prst="rect">
            <a:avLst/>
          </a:prstGeom>
          <a:noFill/>
          <a:ln/>
        </p:spPr>
        <p:txBody>
          <a:bodyPr wrap="square" lIns="0" tIns="0" rIns="0" bIns="0" rtlCol="0" anchor="ctr"/>
          <a:lstStyle/>
          <a:p>
            <a:pPr indent="0" marL="0">
              <a:buNone/>
            </a:pPr>
            <a:r>
              <a:rPr lang="en-US" sz="750" b="1" dirty="0">
                <a:solidFill>
                  <a:srgbClr val="CCD6E0"/>
                </a:solidFill>
              </a:rPr>
              <a:t>TEAM PROFILES</a:t>
            </a:r>
            <a:endParaRPr lang="en-US" sz="750" dirty="0"/>
          </a:p>
        </p:txBody>
      </p:sp>
      <p:sp>
        <p:nvSpPr>
          <p:cNvPr id="3" name="Text 1"/>
          <p:cNvSpPr/>
          <p:nvPr/>
        </p:nvSpPr>
        <p:spPr>
          <a:xfrm>
            <a:off x="566928" y="310896"/>
            <a:ext cx="10881360" cy="384048"/>
          </a:xfrm>
          <a:prstGeom prst="rect">
            <a:avLst/>
          </a:prstGeom>
          <a:noFill/>
          <a:ln/>
        </p:spPr>
        <p:txBody>
          <a:bodyPr wrap="square" lIns="0" tIns="0" rIns="0" bIns="0" rtlCol="0" anchor="ctr">
            <a:normAutofit/>
          </a:bodyPr>
          <a:lstStyle/>
          <a:p>
            <a:pPr indent="0" marL="0">
              <a:buNone/>
            </a:pPr>
            <a:r>
              <a:rPr lang="en-US" sz="2350" b="1" dirty="0">
                <a:solidFill>
                  <a:srgbClr val="C99700"/>
                </a:solidFill>
                <a:latin typeface="Aptos Display" pitchFamily="34" charset="0"/>
                <a:ea typeface="Aptos Display" pitchFamily="34" charset="-122"/>
                <a:cs typeface="Aptos Display" pitchFamily="34" charset="-120"/>
              </a:rPr>
              <a:t>Some programs consistently choose lower-risk options.</a:t>
            </a:r>
            <a:endParaRPr lang="en-US" sz="2350" dirty="0"/>
          </a:p>
        </p:txBody>
      </p:sp>
      <p:sp>
        <p:nvSpPr>
          <p:cNvPr id="4" name="Text 2"/>
          <p:cNvSpPr/>
          <p:nvPr/>
        </p:nvSpPr>
        <p:spPr>
          <a:xfrm>
            <a:off x="585216" y="768096"/>
            <a:ext cx="10698480" cy="347472"/>
          </a:xfrm>
          <a:prstGeom prst="rect">
            <a:avLst/>
          </a:prstGeom>
          <a:noFill/>
          <a:ln/>
        </p:spPr>
        <p:txBody>
          <a:bodyPr wrap="square" lIns="0" tIns="0" rIns="0" bIns="0" rtlCol="0" anchor="ctr">
            <a:normAutofit/>
          </a:bodyPr>
          <a:lstStyle/>
          <a:p>
            <a:pPr indent="0" marL="0">
              <a:buNone/>
            </a:pPr>
            <a:r>
              <a:rPr lang="en-US" sz="1150" dirty="0">
                <a:solidFill>
                  <a:srgbClr val="FFFFFF"/>
                </a:solidFill>
                <a:latin typeface="Aptos" pitchFamily="34" charset="0"/>
                <a:ea typeface="Aptos" pitchFamily="34" charset="-122"/>
                <a:cs typeface="Aptos" pitchFamily="34" charset="-120"/>
              </a:rPr>
              <a:t>Conservative does not necessarily mean wrong; it reflects relative behavior.</a:t>
            </a:r>
            <a:endParaRPr lang="en-US" sz="1150" dirty="0"/>
          </a:p>
        </p:txBody>
      </p:sp>
      <p:sp>
        <p:nvSpPr>
          <p:cNvPr id="5" name="Shape 3"/>
          <p:cNvSpPr/>
          <p:nvPr/>
        </p:nvSpPr>
        <p:spPr>
          <a:xfrm>
            <a:off x="548640" y="6364224"/>
            <a:ext cx="11109960" cy="0"/>
          </a:xfrm>
          <a:prstGeom prst="line">
            <a:avLst/>
          </a:prstGeom>
          <a:noFill/>
          <a:ln w="10160">
            <a:solidFill>
              <a:srgbClr val="C99700">
                <a:alpha val="80000"/>
              </a:srgbClr>
            </a:solidFill>
            <a:prstDash val="solid"/>
          </a:ln>
        </p:spPr>
      </p:sp>
      <p:sp>
        <p:nvSpPr>
          <p:cNvPr id="6" name="Text 4"/>
          <p:cNvSpPr/>
          <p:nvPr/>
        </p:nvSpPr>
        <p:spPr>
          <a:xfrm>
            <a:off x="594360" y="6446520"/>
            <a:ext cx="9875520" cy="201168"/>
          </a:xfrm>
          <a:prstGeom prst="rect">
            <a:avLst/>
          </a:prstGeom>
          <a:noFill/>
          <a:ln/>
        </p:spPr>
        <p:txBody>
          <a:bodyPr wrap="square" lIns="0" tIns="0" rIns="0" bIns="0" rtlCol="0" anchor="ctr"/>
          <a:lstStyle/>
          <a:p>
            <a:pPr indent="0" marL="0">
              <a:buNone/>
            </a:pPr>
            <a:r>
              <a:rPr lang="en-US" sz="780" dirty="0">
                <a:solidFill>
                  <a:srgbClr val="D6DEE8"/>
                </a:solidFill>
                <a:latin typeface="Aptos" pitchFamily="34" charset="0"/>
                <a:ea typeface="Aptos" pitchFamily="34" charset="-122"/>
                <a:cs typeface="Aptos" pitchFamily="34" charset="-120"/>
              </a:rPr>
              <a:t>2023–2025 FBS play-by-play • CollegeFootballData • Fourth-down decisions only</a:t>
            </a:r>
            <a:endParaRPr lang="en-US" sz="780" dirty="0"/>
          </a:p>
        </p:txBody>
      </p:sp>
      <p:sp>
        <p:nvSpPr>
          <p:cNvPr id="7" name="Text 5"/>
          <p:cNvSpPr/>
          <p:nvPr/>
        </p:nvSpPr>
        <p:spPr>
          <a:xfrm>
            <a:off x="11201400" y="6419088"/>
            <a:ext cx="457200" cy="228600"/>
          </a:xfrm>
          <a:prstGeom prst="rect">
            <a:avLst/>
          </a:prstGeom>
          <a:noFill/>
          <a:ln/>
        </p:spPr>
        <p:txBody>
          <a:bodyPr wrap="square" lIns="0" tIns="0" rIns="0" bIns="0" rtlCol="0" anchor="ctr"/>
          <a:lstStyle/>
          <a:p>
            <a:pPr algn="r" indent="0" marL="0">
              <a:buNone/>
            </a:pPr>
            <a:r>
              <a:rPr lang="en-US" sz="800" b="1" dirty="0">
                <a:solidFill>
                  <a:srgbClr val="C99700"/>
                </a:solidFill>
                <a:latin typeface="Aptos" pitchFamily="34" charset="0"/>
                <a:ea typeface="Aptos" pitchFamily="34" charset="-122"/>
                <a:cs typeface="Aptos" pitchFamily="34" charset="-120"/>
              </a:rPr>
              <a:t>10</a:t>
            </a:r>
            <a:endParaRPr lang="en-US" sz="800" dirty="0"/>
          </a:p>
        </p:txBody>
      </p:sp>
      <p:sp>
        <p:nvSpPr>
          <p:cNvPr id="8" name="Text 6"/>
          <p:cNvSpPr/>
          <p:nvPr/>
        </p:nvSpPr>
        <p:spPr>
          <a:xfrm>
            <a:off x="685800" y="1417320"/>
            <a:ext cx="4251960" cy="1965960"/>
          </a:xfrm>
          <a:prstGeom prst="rect">
            <a:avLst/>
          </a:prstGeom>
          <a:noFill/>
          <a:ln/>
        </p:spPr>
        <p:txBody>
          <a:bodyPr wrap="square" lIns="635" tIns="635" rIns="635" bIns="635" rtlCol="0" anchor="t">
            <a:normAutofit/>
          </a:bodyPr>
          <a:lstStyle/>
          <a:p>
            <a:pPr indent="0" marL="0">
              <a:buNone/>
            </a:pPr>
            <a:r>
              <a:rPr lang="en-US" sz="1240" dirty="0">
                <a:solidFill>
                  <a:srgbClr val="FFFFFF"/>
                </a:solidFill>
                <a:latin typeface="Aptos" pitchFamily="34" charset="0"/>
                <a:ea typeface="Aptos" pitchFamily="34" charset="-122"/>
                <a:cs typeface="Aptos" pitchFamily="34" charset="-120"/>
              </a:rPr>
              <a:t>• Iowa ranks as the most conservative FBS team in this dataset.
</a:t>
            </a:r>
            <a:pPr indent="0" marL="0">
              <a:buNone/>
            </a:pPr>
            <a:r>
              <a:rPr lang="en-US" sz="1240" dirty="0">
                <a:solidFill>
                  <a:srgbClr val="FFFFFF"/>
                </a:solidFill>
                <a:latin typeface="Aptos" pitchFamily="34" charset="0"/>
                <a:ea typeface="Aptos" pitchFamily="34" charset="-122"/>
                <a:cs typeface="Aptos" pitchFamily="34" charset="-120"/>
              </a:rPr>
              <a:t>• Minnesota, Louisville, Texas A&amp;M, and Michigan are also conservative outliers.
</a:t>
            </a:r>
            <a:pPr indent="0" marL="0">
              <a:buNone/>
            </a:pPr>
            <a:r>
              <a:rPr lang="en-US" sz="1240" dirty="0">
                <a:solidFill>
                  <a:srgbClr val="FFFFFF"/>
                </a:solidFill>
                <a:latin typeface="Aptos" pitchFamily="34" charset="0"/>
                <a:ea typeface="Aptos" pitchFamily="34" charset="-122"/>
                <a:cs typeface="Aptos" pitchFamily="34" charset="-120"/>
              </a:rPr>
              <a:t>• The index measures behavior, not whether the decision was correct.</a:t>
            </a:r>
            <a:endParaRPr lang="en-US" sz="1240" dirty="0"/>
          </a:p>
        </p:txBody>
      </p:sp>
      <p:sp>
        <p:nvSpPr>
          <p:cNvPr id="9" name="Shape 7"/>
          <p:cNvSpPr/>
          <p:nvPr/>
        </p:nvSpPr>
        <p:spPr>
          <a:xfrm>
            <a:off x="685800" y="3675888"/>
            <a:ext cx="4251960" cy="713232"/>
          </a:xfrm>
          <a:prstGeom prst="roundRect">
            <a:avLst>
              <a:gd name="adj" fmla="val 10256"/>
            </a:avLst>
          </a:prstGeom>
          <a:solidFill>
            <a:srgbClr val="152D4B"/>
          </a:solidFill>
          <a:ln w="13970">
            <a:solidFill>
              <a:srgbClr val="C99700">
                <a:alpha val="85000"/>
              </a:srgbClr>
            </a:solidFill>
            <a:prstDash val="solid"/>
          </a:ln>
        </p:spPr>
      </p:sp>
      <p:sp>
        <p:nvSpPr>
          <p:cNvPr id="10" name="Text 8"/>
          <p:cNvSpPr/>
          <p:nvPr/>
        </p:nvSpPr>
        <p:spPr>
          <a:xfrm>
            <a:off x="850392" y="3803904"/>
            <a:ext cx="3922776" cy="201168"/>
          </a:xfrm>
          <a:prstGeom prst="rect">
            <a:avLst/>
          </a:prstGeom>
          <a:noFill/>
          <a:ln/>
        </p:spPr>
        <p:txBody>
          <a:bodyPr wrap="square" lIns="0" tIns="0" rIns="0" bIns="0" rtlCol="0" anchor="ctr"/>
          <a:lstStyle/>
          <a:p>
            <a:pPr indent="0" marL="0">
              <a:buNone/>
            </a:pPr>
            <a:r>
              <a:rPr lang="en-US" sz="870" b="1" dirty="0">
                <a:solidFill>
                  <a:srgbClr val="C99700"/>
                </a:solidFill>
              </a:rPr>
              <a:t>INSIGHT</a:t>
            </a:r>
            <a:endParaRPr lang="en-US" sz="870" dirty="0"/>
          </a:p>
        </p:txBody>
      </p:sp>
      <p:sp>
        <p:nvSpPr>
          <p:cNvPr id="11" name="Text 9"/>
          <p:cNvSpPr/>
          <p:nvPr/>
        </p:nvSpPr>
        <p:spPr>
          <a:xfrm>
            <a:off x="850392" y="4059936"/>
            <a:ext cx="392277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The conservative tail is just as informative as the aggressive tail.</a:t>
            </a:r>
            <a:endParaRPr lang="en-US" sz="1220" dirty="0"/>
          </a:p>
        </p:txBody>
      </p:sp>
      <p:sp>
        <p:nvSpPr>
          <p:cNvPr id="12" name="Shape 10"/>
          <p:cNvSpPr/>
          <p:nvPr/>
        </p:nvSpPr>
        <p:spPr>
          <a:xfrm>
            <a:off x="685800" y="4590288"/>
            <a:ext cx="4251960" cy="713232"/>
          </a:xfrm>
          <a:prstGeom prst="roundRect">
            <a:avLst>
              <a:gd name="adj" fmla="val 10256"/>
            </a:avLst>
          </a:prstGeom>
          <a:solidFill>
            <a:srgbClr val="152D4B"/>
          </a:solidFill>
          <a:ln w="13970">
            <a:solidFill>
              <a:srgbClr val="C99700">
                <a:alpha val="85000"/>
              </a:srgbClr>
            </a:solidFill>
            <a:prstDash val="solid"/>
          </a:ln>
        </p:spPr>
      </p:sp>
      <p:sp>
        <p:nvSpPr>
          <p:cNvPr id="13" name="Text 11"/>
          <p:cNvSpPr/>
          <p:nvPr/>
        </p:nvSpPr>
        <p:spPr>
          <a:xfrm>
            <a:off x="850392" y="4718304"/>
            <a:ext cx="3922776" cy="201168"/>
          </a:xfrm>
          <a:prstGeom prst="rect">
            <a:avLst/>
          </a:prstGeom>
          <a:noFill/>
          <a:ln/>
        </p:spPr>
        <p:txBody>
          <a:bodyPr wrap="square" lIns="0" tIns="0" rIns="0" bIns="0" rtlCol="0" anchor="ctr"/>
          <a:lstStyle/>
          <a:p>
            <a:pPr indent="0" marL="0">
              <a:buNone/>
            </a:pPr>
            <a:r>
              <a:rPr lang="en-US" sz="870" b="1" dirty="0">
                <a:solidFill>
                  <a:srgbClr val="C99700"/>
                </a:solidFill>
              </a:rPr>
              <a:t>IMPLICATION</a:t>
            </a:r>
            <a:endParaRPr lang="en-US" sz="870" dirty="0"/>
          </a:p>
        </p:txBody>
      </p:sp>
      <p:sp>
        <p:nvSpPr>
          <p:cNvPr id="14" name="Text 12"/>
          <p:cNvSpPr/>
          <p:nvPr/>
        </p:nvSpPr>
        <p:spPr>
          <a:xfrm>
            <a:off x="850392" y="4974336"/>
            <a:ext cx="392277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Program identity and coaching philosophy show up in fourth-down behavior.</a:t>
            </a:r>
            <a:endParaRPr lang="en-US" sz="1220" dirty="0"/>
          </a:p>
        </p:txBody>
      </p:sp>
      <p:sp>
        <p:nvSpPr>
          <p:cNvPr id="15" name="Shape 13"/>
          <p:cNvSpPr/>
          <p:nvPr/>
        </p:nvSpPr>
        <p:spPr>
          <a:xfrm>
            <a:off x="5184648" y="1280160"/>
            <a:ext cx="6501384" cy="3941064"/>
          </a:xfrm>
          <a:prstGeom prst="roundRect">
            <a:avLst/>
          </a:prstGeom>
          <a:solidFill>
            <a:srgbClr val="FFFFFF"/>
          </a:solidFill>
          <a:ln w="6350">
            <a:solidFill>
              <a:srgbClr val="D0D7E2"/>
            </a:solidFill>
            <a:prstDash val="solid"/>
          </a:ln>
        </p:spPr>
      </p:sp>
      <p:pic>
        <p:nvPicPr>
          <p:cNvPr id="16" name="Image 0" descr="/mnt/data/extracted_pptx/ppt/media/image7.png">    </p:cNvPr>
          <p:cNvPicPr>
            <a:picLocks noChangeAspect="1"/>
          </p:cNvPicPr>
          <p:nvPr/>
        </p:nvPicPr>
        <p:blipFill>
          <a:blip r:embed="rId1"/>
          <a:stretch>
            <a:fillRect/>
          </a:stretch>
        </p:blipFill>
        <p:spPr>
          <a:xfrm>
            <a:off x="5700881" y="1353312"/>
            <a:ext cx="5468919" cy="37947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109728"/>
            <a:ext cx="4114800" cy="164592"/>
          </a:xfrm>
          <a:prstGeom prst="rect">
            <a:avLst/>
          </a:prstGeom>
          <a:noFill/>
          <a:ln/>
        </p:spPr>
        <p:txBody>
          <a:bodyPr wrap="square" lIns="0" tIns="0" rIns="0" bIns="0" rtlCol="0" anchor="ctr"/>
          <a:lstStyle/>
          <a:p>
            <a:pPr indent="0" marL="0">
              <a:buNone/>
            </a:pPr>
            <a:r>
              <a:rPr lang="en-US" sz="750" b="1" dirty="0">
                <a:solidFill>
                  <a:srgbClr val="CCD6E0"/>
                </a:solidFill>
              </a:rPr>
              <a:t>TEAM PROFILES</a:t>
            </a:r>
            <a:endParaRPr lang="en-US" sz="750" dirty="0"/>
          </a:p>
        </p:txBody>
      </p:sp>
      <p:sp>
        <p:nvSpPr>
          <p:cNvPr id="3" name="Text 1"/>
          <p:cNvSpPr/>
          <p:nvPr/>
        </p:nvSpPr>
        <p:spPr>
          <a:xfrm>
            <a:off x="566928" y="310896"/>
            <a:ext cx="10881360" cy="384048"/>
          </a:xfrm>
          <a:prstGeom prst="rect">
            <a:avLst/>
          </a:prstGeom>
          <a:noFill/>
          <a:ln/>
        </p:spPr>
        <p:txBody>
          <a:bodyPr wrap="square" lIns="0" tIns="0" rIns="0" bIns="0" rtlCol="0" anchor="ctr">
            <a:normAutofit/>
          </a:bodyPr>
          <a:lstStyle/>
          <a:p>
            <a:pPr indent="0" marL="0">
              <a:buNone/>
            </a:pPr>
            <a:r>
              <a:rPr lang="en-US" sz="2350" b="1" dirty="0">
                <a:solidFill>
                  <a:srgbClr val="C99700"/>
                </a:solidFill>
                <a:latin typeface="Aptos Display" pitchFamily="34" charset="0"/>
                <a:ea typeface="Aptos Display" pitchFamily="34" charset="-122"/>
                <a:cs typeface="Aptos Display" pitchFamily="34" charset="-120"/>
              </a:rPr>
              <a:t>Notre Dame is slightly aggressive, but not an extreme outlier.</a:t>
            </a:r>
            <a:endParaRPr lang="en-US" sz="2350" dirty="0"/>
          </a:p>
        </p:txBody>
      </p:sp>
      <p:sp>
        <p:nvSpPr>
          <p:cNvPr id="4" name="Text 2"/>
          <p:cNvSpPr/>
          <p:nvPr/>
        </p:nvSpPr>
        <p:spPr>
          <a:xfrm>
            <a:off x="585216" y="768096"/>
            <a:ext cx="10698480" cy="347472"/>
          </a:xfrm>
          <a:prstGeom prst="rect">
            <a:avLst/>
          </a:prstGeom>
          <a:noFill/>
          <a:ln/>
        </p:spPr>
        <p:txBody>
          <a:bodyPr wrap="square" lIns="0" tIns="0" rIns="0" bIns="0" rtlCol="0" anchor="ctr">
            <a:normAutofit/>
          </a:bodyPr>
          <a:lstStyle/>
          <a:p>
            <a:pPr indent="0" marL="0">
              <a:buNone/>
            </a:pPr>
            <a:r>
              <a:rPr lang="en-US" sz="1150" dirty="0">
                <a:solidFill>
                  <a:srgbClr val="FFFFFF"/>
                </a:solidFill>
                <a:latin typeface="Aptos" pitchFamily="34" charset="0"/>
                <a:ea typeface="Aptos" pitchFamily="34" charset="-122"/>
                <a:cs typeface="Aptos" pitchFamily="34" charset="-120"/>
              </a:rPr>
              <a:t>Notre Dame ranks 36th nationally with an index of +0.024.</a:t>
            </a:r>
            <a:endParaRPr lang="en-US" sz="1150" dirty="0"/>
          </a:p>
        </p:txBody>
      </p:sp>
      <p:sp>
        <p:nvSpPr>
          <p:cNvPr id="5" name="Shape 3"/>
          <p:cNvSpPr/>
          <p:nvPr/>
        </p:nvSpPr>
        <p:spPr>
          <a:xfrm>
            <a:off x="548640" y="6364224"/>
            <a:ext cx="11109960" cy="0"/>
          </a:xfrm>
          <a:prstGeom prst="line">
            <a:avLst/>
          </a:prstGeom>
          <a:noFill/>
          <a:ln w="10160">
            <a:solidFill>
              <a:srgbClr val="C99700">
                <a:alpha val="80000"/>
              </a:srgbClr>
            </a:solidFill>
            <a:prstDash val="solid"/>
          </a:ln>
        </p:spPr>
      </p:sp>
      <p:sp>
        <p:nvSpPr>
          <p:cNvPr id="6" name="Text 4"/>
          <p:cNvSpPr/>
          <p:nvPr/>
        </p:nvSpPr>
        <p:spPr>
          <a:xfrm>
            <a:off x="594360" y="6446520"/>
            <a:ext cx="9875520" cy="201168"/>
          </a:xfrm>
          <a:prstGeom prst="rect">
            <a:avLst/>
          </a:prstGeom>
          <a:noFill/>
          <a:ln/>
        </p:spPr>
        <p:txBody>
          <a:bodyPr wrap="square" lIns="0" tIns="0" rIns="0" bIns="0" rtlCol="0" anchor="ctr"/>
          <a:lstStyle/>
          <a:p>
            <a:pPr indent="0" marL="0">
              <a:buNone/>
            </a:pPr>
            <a:r>
              <a:rPr lang="en-US" sz="780" dirty="0">
                <a:solidFill>
                  <a:srgbClr val="D6DEE8"/>
                </a:solidFill>
                <a:latin typeface="Aptos" pitchFamily="34" charset="0"/>
                <a:ea typeface="Aptos" pitchFamily="34" charset="-122"/>
                <a:cs typeface="Aptos" pitchFamily="34" charset="-120"/>
              </a:rPr>
              <a:t>2023–2025 FBS play-by-play • CollegeFootballData • Fourth-down decisions only</a:t>
            </a:r>
            <a:endParaRPr lang="en-US" sz="780" dirty="0"/>
          </a:p>
        </p:txBody>
      </p:sp>
      <p:sp>
        <p:nvSpPr>
          <p:cNvPr id="7" name="Text 5"/>
          <p:cNvSpPr/>
          <p:nvPr/>
        </p:nvSpPr>
        <p:spPr>
          <a:xfrm>
            <a:off x="11201400" y="6419088"/>
            <a:ext cx="457200" cy="228600"/>
          </a:xfrm>
          <a:prstGeom prst="rect">
            <a:avLst/>
          </a:prstGeom>
          <a:noFill/>
          <a:ln/>
        </p:spPr>
        <p:txBody>
          <a:bodyPr wrap="square" lIns="0" tIns="0" rIns="0" bIns="0" rtlCol="0" anchor="ctr"/>
          <a:lstStyle/>
          <a:p>
            <a:pPr algn="r" indent="0" marL="0">
              <a:buNone/>
            </a:pPr>
            <a:r>
              <a:rPr lang="en-US" sz="800" b="1" dirty="0">
                <a:solidFill>
                  <a:srgbClr val="C99700"/>
                </a:solidFill>
                <a:latin typeface="Aptos" pitchFamily="34" charset="0"/>
                <a:ea typeface="Aptos" pitchFamily="34" charset="-122"/>
                <a:cs typeface="Aptos" pitchFamily="34" charset="-120"/>
              </a:rPr>
              <a:t>11</a:t>
            </a:r>
            <a:endParaRPr lang="en-US" sz="800" dirty="0"/>
          </a:p>
        </p:txBody>
      </p:sp>
      <p:sp>
        <p:nvSpPr>
          <p:cNvPr id="8" name="Text 6"/>
          <p:cNvSpPr/>
          <p:nvPr/>
        </p:nvSpPr>
        <p:spPr>
          <a:xfrm>
            <a:off x="685800" y="1417320"/>
            <a:ext cx="4251960" cy="1965960"/>
          </a:xfrm>
          <a:prstGeom prst="rect">
            <a:avLst/>
          </a:prstGeom>
          <a:noFill/>
          <a:ln/>
        </p:spPr>
        <p:txBody>
          <a:bodyPr wrap="square" lIns="635" tIns="635" rIns="635" bIns="635" rtlCol="0" anchor="t">
            <a:normAutofit/>
          </a:bodyPr>
          <a:lstStyle/>
          <a:p>
            <a:pPr indent="0" marL="0">
              <a:buNone/>
            </a:pPr>
            <a:r>
              <a:rPr lang="en-US" sz="1240" dirty="0">
                <a:solidFill>
                  <a:srgbClr val="FFFFFF"/>
                </a:solidFill>
                <a:latin typeface="Aptos" pitchFamily="34" charset="0"/>
                <a:ea typeface="Aptos" pitchFamily="34" charset="-122"/>
                <a:cs typeface="Aptos" pitchFamily="34" charset="-120"/>
              </a:rPr>
              <a:t>• Notre Dame ranks 36th nationally.
</a:t>
            </a:r>
            <a:pPr indent="0" marL="0">
              <a:buNone/>
            </a:pPr>
            <a:r>
              <a:rPr lang="en-US" sz="1240" dirty="0">
                <a:solidFill>
                  <a:srgbClr val="FFFFFF"/>
                </a:solidFill>
                <a:latin typeface="Aptos" pitchFamily="34" charset="0"/>
                <a:ea typeface="Aptos" pitchFamily="34" charset="-122"/>
                <a:cs typeface="Aptos" pitchFamily="34" charset="-120"/>
              </a:rPr>
              <a:t>• Notre Dame Aggressiveness Index: +0.024.
</a:t>
            </a:r>
            <a:pPr indent="0" marL="0">
              <a:buNone/>
            </a:pPr>
            <a:r>
              <a:rPr lang="en-US" sz="1240" dirty="0">
                <a:solidFill>
                  <a:srgbClr val="FFFFFF"/>
                </a:solidFill>
                <a:latin typeface="Aptos" pitchFamily="34" charset="0"/>
                <a:ea typeface="Aptos" pitchFamily="34" charset="-122"/>
                <a:cs typeface="Aptos" pitchFamily="34" charset="-120"/>
              </a:rPr>
              <a:t>• Texas, Georgia, Oregon, Alabama, Ohio State, and Michigan rate below expectation.</a:t>
            </a:r>
            <a:endParaRPr lang="en-US" sz="1240" dirty="0"/>
          </a:p>
        </p:txBody>
      </p:sp>
      <p:sp>
        <p:nvSpPr>
          <p:cNvPr id="9" name="Shape 7"/>
          <p:cNvSpPr/>
          <p:nvPr/>
        </p:nvSpPr>
        <p:spPr>
          <a:xfrm>
            <a:off x="685800" y="3675888"/>
            <a:ext cx="4251960" cy="713232"/>
          </a:xfrm>
          <a:prstGeom prst="roundRect">
            <a:avLst>
              <a:gd name="adj" fmla="val 10256"/>
            </a:avLst>
          </a:prstGeom>
          <a:solidFill>
            <a:srgbClr val="152D4B"/>
          </a:solidFill>
          <a:ln w="13970">
            <a:solidFill>
              <a:srgbClr val="C99700">
                <a:alpha val="85000"/>
              </a:srgbClr>
            </a:solidFill>
            <a:prstDash val="solid"/>
          </a:ln>
        </p:spPr>
      </p:sp>
      <p:sp>
        <p:nvSpPr>
          <p:cNvPr id="10" name="Text 8"/>
          <p:cNvSpPr/>
          <p:nvPr/>
        </p:nvSpPr>
        <p:spPr>
          <a:xfrm>
            <a:off x="850392" y="3803904"/>
            <a:ext cx="3922776" cy="201168"/>
          </a:xfrm>
          <a:prstGeom prst="rect">
            <a:avLst/>
          </a:prstGeom>
          <a:noFill/>
          <a:ln/>
        </p:spPr>
        <p:txBody>
          <a:bodyPr wrap="square" lIns="0" tIns="0" rIns="0" bIns="0" rtlCol="0" anchor="ctr"/>
          <a:lstStyle/>
          <a:p>
            <a:pPr indent="0" marL="0">
              <a:buNone/>
            </a:pPr>
            <a:r>
              <a:rPr lang="en-US" sz="870" b="1" dirty="0">
                <a:solidFill>
                  <a:srgbClr val="C99700"/>
                </a:solidFill>
              </a:rPr>
              <a:t>INSIGHT</a:t>
            </a:r>
            <a:endParaRPr lang="en-US" sz="870" dirty="0"/>
          </a:p>
        </p:txBody>
      </p:sp>
      <p:sp>
        <p:nvSpPr>
          <p:cNvPr id="11" name="Text 9"/>
          <p:cNvSpPr/>
          <p:nvPr/>
        </p:nvSpPr>
        <p:spPr>
          <a:xfrm>
            <a:off x="850392" y="4059936"/>
            <a:ext cx="392277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Notre Dame is aggressive situationally, not universally.</a:t>
            </a:r>
            <a:endParaRPr lang="en-US" sz="1220" dirty="0"/>
          </a:p>
        </p:txBody>
      </p:sp>
      <p:sp>
        <p:nvSpPr>
          <p:cNvPr id="12" name="Shape 10"/>
          <p:cNvSpPr/>
          <p:nvPr/>
        </p:nvSpPr>
        <p:spPr>
          <a:xfrm>
            <a:off x="685800" y="4590288"/>
            <a:ext cx="4251960" cy="713232"/>
          </a:xfrm>
          <a:prstGeom prst="roundRect">
            <a:avLst>
              <a:gd name="adj" fmla="val 10256"/>
            </a:avLst>
          </a:prstGeom>
          <a:solidFill>
            <a:srgbClr val="152D4B"/>
          </a:solidFill>
          <a:ln w="13970">
            <a:solidFill>
              <a:srgbClr val="C99700">
                <a:alpha val="85000"/>
              </a:srgbClr>
            </a:solidFill>
            <a:prstDash val="solid"/>
          </a:ln>
        </p:spPr>
      </p:sp>
      <p:sp>
        <p:nvSpPr>
          <p:cNvPr id="13" name="Text 11"/>
          <p:cNvSpPr/>
          <p:nvPr/>
        </p:nvSpPr>
        <p:spPr>
          <a:xfrm>
            <a:off x="850392" y="4718304"/>
            <a:ext cx="3922776" cy="201168"/>
          </a:xfrm>
          <a:prstGeom prst="rect">
            <a:avLst/>
          </a:prstGeom>
          <a:noFill/>
          <a:ln/>
        </p:spPr>
        <p:txBody>
          <a:bodyPr wrap="square" lIns="0" tIns="0" rIns="0" bIns="0" rtlCol="0" anchor="ctr"/>
          <a:lstStyle/>
          <a:p>
            <a:pPr indent="0" marL="0">
              <a:buNone/>
            </a:pPr>
            <a:r>
              <a:rPr lang="en-US" sz="870" b="1" dirty="0">
                <a:solidFill>
                  <a:srgbClr val="C99700"/>
                </a:solidFill>
              </a:rPr>
              <a:t>IMPLICATION</a:t>
            </a:r>
            <a:endParaRPr lang="en-US" sz="870" dirty="0"/>
          </a:p>
        </p:txBody>
      </p:sp>
      <p:sp>
        <p:nvSpPr>
          <p:cNvPr id="14" name="Text 12"/>
          <p:cNvSpPr/>
          <p:nvPr/>
        </p:nvSpPr>
        <p:spPr>
          <a:xfrm>
            <a:off x="850392" y="4974336"/>
            <a:ext cx="392277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This reconciles the ND case study with the broader team ranking.</a:t>
            </a:r>
            <a:endParaRPr lang="en-US" sz="1220" dirty="0"/>
          </a:p>
        </p:txBody>
      </p:sp>
      <p:sp>
        <p:nvSpPr>
          <p:cNvPr id="15" name="Shape 13"/>
          <p:cNvSpPr/>
          <p:nvPr/>
        </p:nvSpPr>
        <p:spPr>
          <a:xfrm>
            <a:off x="5184648" y="1280160"/>
            <a:ext cx="6501384" cy="3941064"/>
          </a:xfrm>
          <a:prstGeom prst="roundRect">
            <a:avLst/>
          </a:prstGeom>
          <a:solidFill>
            <a:srgbClr val="FFFFFF"/>
          </a:solidFill>
          <a:ln w="6350">
            <a:solidFill>
              <a:srgbClr val="D0D7E2"/>
            </a:solidFill>
            <a:prstDash val="solid"/>
          </a:ln>
        </p:spPr>
      </p:sp>
      <p:pic>
        <p:nvPicPr>
          <p:cNvPr id="16" name="Image 0" descr="/mnt/data/extracted_pptx/ppt/media/image8.png">    </p:cNvPr>
          <p:cNvPicPr>
            <a:picLocks noChangeAspect="1"/>
          </p:cNvPicPr>
          <p:nvPr/>
        </p:nvPicPr>
        <p:blipFill>
          <a:blip r:embed="rId1"/>
          <a:stretch>
            <a:fillRect/>
          </a:stretch>
        </p:blipFill>
        <p:spPr>
          <a:xfrm>
            <a:off x="5287657" y="1353312"/>
            <a:ext cx="6295366" cy="3794760"/>
          </a:xfrm>
          <a:prstGeom prst="rect">
            <a:avLst/>
          </a:prstGeom>
        </p:spPr>
      </p:pic>
      <p:sp>
        <p:nvSpPr>
          <p:cNvPr id="17" name="Shape 14"/>
          <p:cNvSpPr/>
          <p:nvPr/>
        </p:nvSpPr>
        <p:spPr>
          <a:xfrm>
            <a:off x="7452360" y="5559552"/>
            <a:ext cx="2743200" cy="566928"/>
          </a:xfrm>
          <a:prstGeom prst="roundRect">
            <a:avLst/>
          </a:prstGeom>
          <a:solidFill>
            <a:srgbClr val="102D4D"/>
          </a:solidFill>
          <a:ln w="12700">
            <a:solidFill>
              <a:srgbClr val="C99700"/>
            </a:solidFill>
            <a:prstDash val="solid"/>
          </a:ln>
        </p:spPr>
      </p:sp>
      <p:sp>
        <p:nvSpPr>
          <p:cNvPr id="18" name="Text 15"/>
          <p:cNvSpPr/>
          <p:nvPr/>
        </p:nvSpPr>
        <p:spPr>
          <a:xfrm>
            <a:off x="7580376" y="5669280"/>
            <a:ext cx="2487168" cy="320040"/>
          </a:xfrm>
          <a:prstGeom prst="rect">
            <a:avLst/>
          </a:prstGeom>
          <a:noFill/>
          <a:ln/>
        </p:spPr>
        <p:txBody>
          <a:bodyPr wrap="square" lIns="0" tIns="0" rIns="0" bIns="0" rtlCol="0" anchor="ctr">
            <a:normAutofit/>
          </a:bodyPr>
          <a:lstStyle/>
          <a:p>
            <a:pPr algn="ctr" indent="0" marL="0">
              <a:buNone/>
            </a:pPr>
            <a:r>
              <a:rPr lang="en-US" sz="1100" b="1" dirty="0">
                <a:solidFill>
                  <a:srgbClr val="C99700"/>
                </a:solidFill>
              </a:rPr>
              <a:t>ND: aggressive, but not extreme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109728"/>
            <a:ext cx="4114800" cy="164592"/>
          </a:xfrm>
          <a:prstGeom prst="rect">
            <a:avLst/>
          </a:prstGeom>
          <a:noFill/>
          <a:ln/>
        </p:spPr>
        <p:txBody>
          <a:bodyPr wrap="square" lIns="0" tIns="0" rIns="0" bIns="0" rtlCol="0" anchor="ctr"/>
          <a:lstStyle/>
          <a:p>
            <a:pPr indent="0" marL="0">
              <a:buNone/>
            </a:pPr>
            <a:r>
              <a:rPr lang="en-US" sz="750" b="1" dirty="0">
                <a:solidFill>
                  <a:srgbClr val="CCD6E0"/>
                </a:solidFill>
              </a:rPr>
              <a:t>TEAM PROFILES</a:t>
            </a:r>
            <a:endParaRPr lang="en-US" sz="750" dirty="0"/>
          </a:p>
        </p:txBody>
      </p:sp>
      <p:sp>
        <p:nvSpPr>
          <p:cNvPr id="3" name="Text 1"/>
          <p:cNvSpPr/>
          <p:nvPr/>
        </p:nvSpPr>
        <p:spPr>
          <a:xfrm>
            <a:off x="566928" y="310896"/>
            <a:ext cx="10881360" cy="384048"/>
          </a:xfrm>
          <a:prstGeom prst="rect">
            <a:avLst/>
          </a:prstGeom>
          <a:noFill/>
          <a:ln/>
        </p:spPr>
        <p:txBody>
          <a:bodyPr wrap="square" lIns="0" tIns="0" rIns="0" bIns="0" rtlCol="0" anchor="ctr">
            <a:normAutofit/>
          </a:bodyPr>
          <a:lstStyle/>
          <a:p>
            <a:pPr indent="0" marL="0">
              <a:buNone/>
            </a:pPr>
            <a:r>
              <a:rPr lang="en-US" sz="2350" b="1" dirty="0">
                <a:solidFill>
                  <a:srgbClr val="C99700"/>
                </a:solidFill>
                <a:latin typeface="Aptos Display" pitchFamily="34" charset="0"/>
                <a:ea typeface="Aptos Display" pitchFamily="34" charset="-122"/>
                <a:cs typeface="Aptos Display" pitchFamily="34" charset="-120"/>
              </a:rPr>
              <a:t>The index separates raw behavior from contextual expectation.</a:t>
            </a:r>
            <a:endParaRPr lang="en-US" sz="2350" dirty="0"/>
          </a:p>
        </p:txBody>
      </p:sp>
      <p:sp>
        <p:nvSpPr>
          <p:cNvPr id="4" name="Text 2"/>
          <p:cNvSpPr/>
          <p:nvPr/>
        </p:nvSpPr>
        <p:spPr>
          <a:xfrm>
            <a:off x="585216" y="768096"/>
            <a:ext cx="10698480" cy="347472"/>
          </a:xfrm>
          <a:prstGeom prst="rect">
            <a:avLst/>
          </a:prstGeom>
          <a:noFill/>
          <a:ln/>
        </p:spPr>
        <p:txBody>
          <a:bodyPr wrap="square" lIns="0" tIns="0" rIns="0" bIns="0" rtlCol="0" anchor="ctr">
            <a:normAutofit/>
          </a:bodyPr>
          <a:lstStyle/>
          <a:p>
            <a:pPr indent="0" marL="0">
              <a:buNone/>
            </a:pPr>
            <a:r>
              <a:rPr lang="en-US" sz="1150" dirty="0">
                <a:solidFill>
                  <a:srgbClr val="FFFFFF"/>
                </a:solidFill>
                <a:latin typeface="Aptos" pitchFamily="34" charset="0"/>
                <a:ea typeface="Aptos" pitchFamily="34" charset="-122"/>
                <a:cs typeface="Aptos" pitchFamily="34" charset="-120"/>
              </a:rPr>
              <a:t>Actual go rate alone can mislead without situation mix.</a:t>
            </a:r>
            <a:endParaRPr lang="en-US" sz="1150" dirty="0"/>
          </a:p>
        </p:txBody>
      </p:sp>
      <p:sp>
        <p:nvSpPr>
          <p:cNvPr id="5" name="Shape 3"/>
          <p:cNvSpPr/>
          <p:nvPr/>
        </p:nvSpPr>
        <p:spPr>
          <a:xfrm>
            <a:off x="548640" y="6364224"/>
            <a:ext cx="11109960" cy="0"/>
          </a:xfrm>
          <a:prstGeom prst="line">
            <a:avLst/>
          </a:prstGeom>
          <a:noFill/>
          <a:ln w="10160">
            <a:solidFill>
              <a:srgbClr val="C99700">
                <a:alpha val="80000"/>
              </a:srgbClr>
            </a:solidFill>
            <a:prstDash val="solid"/>
          </a:ln>
        </p:spPr>
      </p:sp>
      <p:sp>
        <p:nvSpPr>
          <p:cNvPr id="6" name="Text 4"/>
          <p:cNvSpPr/>
          <p:nvPr/>
        </p:nvSpPr>
        <p:spPr>
          <a:xfrm>
            <a:off x="594360" y="6446520"/>
            <a:ext cx="9875520" cy="201168"/>
          </a:xfrm>
          <a:prstGeom prst="rect">
            <a:avLst/>
          </a:prstGeom>
          <a:noFill/>
          <a:ln/>
        </p:spPr>
        <p:txBody>
          <a:bodyPr wrap="square" lIns="0" tIns="0" rIns="0" bIns="0" rtlCol="0" anchor="ctr"/>
          <a:lstStyle/>
          <a:p>
            <a:pPr indent="0" marL="0">
              <a:buNone/>
            </a:pPr>
            <a:r>
              <a:rPr lang="en-US" sz="780" dirty="0">
                <a:solidFill>
                  <a:srgbClr val="D6DEE8"/>
                </a:solidFill>
                <a:latin typeface="Aptos" pitchFamily="34" charset="0"/>
                <a:ea typeface="Aptos" pitchFamily="34" charset="-122"/>
                <a:cs typeface="Aptos" pitchFamily="34" charset="-120"/>
              </a:rPr>
              <a:t>2023–2025 FBS play-by-play • CollegeFootballData • Fourth-down decisions only</a:t>
            </a:r>
            <a:endParaRPr lang="en-US" sz="780" dirty="0"/>
          </a:p>
        </p:txBody>
      </p:sp>
      <p:sp>
        <p:nvSpPr>
          <p:cNvPr id="7" name="Text 5"/>
          <p:cNvSpPr/>
          <p:nvPr/>
        </p:nvSpPr>
        <p:spPr>
          <a:xfrm>
            <a:off x="11201400" y="6419088"/>
            <a:ext cx="457200" cy="228600"/>
          </a:xfrm>
          <a:prstGeom prst="rect">
            <a:avLst/>
          </a:prstGeom>
          <a:noFill/>
          <a:ln/>
        </p:spPr>
        <p:txBody>
          <a:bodyPr wrap="square" lIns="0" tIns="0" rIns="0" bIns="0" rtlCol="0" anchor="ctr"/>
          <a:lstStyle/>
          <a:p>
            <a:pPr algn="r" indent="0" marL="0">
              <a:buNone/>
            </a:pPr>
            <a:r>
              <a:rPr lang="en-US" sz="800" b="1" dirty="0">
                <a:solidFill>
                  <a:srgbClr val="C99700"/>
                </a:solidFill>
                <a:latin typeface="Aptos" pitchFamily="34" charset="0"/>
                <a:ea typeface="Aptos" pitchFamily="34" charset="-122"/>
                <a:cs typeface="Aptos" pitchFamily="34" charset="-120"/>
              </a:rPr>
              <a:t>12</a:t>
            </a:r>
            <a:endParaRPr lang="en-US" sz="800" dirty="0"/>
          </a:p>
        </p:txBody>
      </p:sp>
      <p:sp>
        <p:nvSpPr>
          <p:cNvPr id="8" name="Text 6"/>
          <p:cNvSpPr/>
          <p:nvPr/>
        </p:nvSpPr>
        <p:spPr>
          <a:xfrm>
            <a:off x="685800" y="1417320"/>
            <a:ext cx="4251960" cy="1965960"/>
          </a:xfrm>
          <a:prstGeom prst="rect">
            <a:avLst/>
          </a:prstGeom>
          <a:noFill/>
          <a:ln/>
        </p:spPr>
        <p:txBody>
          <a:bodyPr wrap="square" lIns="635" tIns="635" rIns="635" bIns="635" rtlCol="0" anchor="t">
            <a:normAutofit/>
          </a:bodyPr>
          <a:lstStyle/>
          <a:p>
            <a:pPr indent="0" marL="0">
              <a:buNone/>
            </a:pPr>
            <a:r>
              <a:rPr lang="en-US" sz="1240" dirty="0">
                <a:solidFill>
                  <a:srgbClr val="FFFFFF"/>
                </a:solidFill>
                <a:latin typeface="Aptos" pitchFamily="34" charset="0"/>
                <a:ea typeface="Aptos" pitchFamily="34" charset="-122"/>
                <a:cs typeface="Aptos" pitchFamily="34" charset="-120"/>
              </a:rPr>
              <a:t>• Notre Dame actual go rate: 32.8%.
</a:t>
            </a:r>
            <a:pPr indent="0" marL="0">
              <a:buNone/>
            </a:pPr>
            <a:r>
              <a:rPr lang="en-US" sz="1240" dirty="0">
                <a:solidFill>
                  <a:srgbClr val="FFFFFF"/>
                </a:solidFill>
                <a:latin typeface="Aptos" pitchFamily="34" charset="0"/>
                <a:ea typeface="Aptos" pitchFamily="34" charset="-122"/>
                <a:cs typeface="Aptos" pitchFamily="34" charset="-120"/>
              </a:rPr>
              <a:t>• Notre Dame expected go rate: 30.4%.
</a:t>
            </a:r>
            <a:pPr indent="0" marL="0">
              <a:buNone/>
            </a:pPr>
            <a:r>
              <a:rPr lang="en-US" sz="1240" dirty="0">
                <a:solidFill>
                  <a:srgbClr val="FFFFFF"/>
                </a:solidFill>
                <a:latin typeface="Aptos" pitchFamily="34" charset="0"/>
                <a:ea typeface="Aptos" pitchFamily="34" charset="-122"/>
                <a:cs typeface="Aptos" pitchFamily="34" charset="-120"/>
              </a:rPr>
              <a:t>• Michigan actual go rate: 21.0% vs expected 29.3%.</a:t>
            </a:r>
            <a:endParaRPr lang="en-US" sz="1240" dirty="0"/>
          </a:p>
        </p:txBody>
      </p:sp>
      <p:sp>
        <p:nvSpPr>
          <p:cNvPr id="9" name="Shape 7"/>
          <p:cNvSpPr/>
          <p:nvPr/>
        </p:nvSpPr>
        <p:spPr>
          <a:xfrm>
            <a:off x="685800" y="3675888"/>
            <a:ext cx="4251960" cy="713232"/>
          </a:xfrm>
          <a:prstGeom prst="roundRect">
            <a:avLst>
              <a:gd name="adj" fmla="val 10256"/>
            </a:avLst>
          </a:prstGeom>
          <a:solidFill>
            <a:srgbClr val="152D4B"/>
          </a:solidFill>
          <a:ln w="13970">
            <a:solidFill>
              <a:srgbClr val="C99700">
                <a:alpha val="85000"/>
              </a:srgbClr>
            </a:solidFill>
            <a:prstDash val="solid"/>
          </a:ln>
        </p:spPr>
      </p:sp>
      <p:sp>
        <p:nvSpPr>
          <p:cNvPr id="10" name="Text 8"/>
          <p:cNvSpPr/>
          <p:nvPr/>
        </p:nvSpPr>
        <p:spPr>
          <a:xfrm>
            <a:off x="850392" y="3803904"/>
            <a:ext cx="3922776" cy="201168"/>
          </a:xfrm>
          <a:prstGeom prst="rect">
            <a:avLst/>
          </a:prstGeom>
          <a:noFill/>
          <a:ln/>
        </p:spPr>
        <p:txBody>
          <a:bodyPr wrap="square" lIns="0" tIns="0" rIns="0" bIns="0" rtlCol="0" anchor="ctr"/>
          <a:lstStyle/>
          <a:p>
            <a:pPr indent="0" marL="0">
              <a:buNone/>
            </a:pPr>
            <a:r>
              <a:rPr lang="en-US" sz="870" b="1" dirty="0">
                <a:solidFill>
                  <a:srgbClr val="C99700"/>
                </a:solidFill>
              </a:rPr>
              <a:t>INSIGHT</a:t>
            </a:r>
            <a:endParaRPr lang="en-US" sz="870" dirty="0"/>
          </a:p>
        </p:txBody>
      </p:sp>
      <p:sp>
        <p:nvSpPr>
          <p:cNvPr id="11" name="Text 9"/>
          <p:cNvSpPr/>
          <p:nvPr/>
        </p:nvSpPr>
        <p:spPr>
          <a:xfrm>
            <a:off x="850392" y="4059936"/>
            <a:ext cx="392277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Context-adjusted rates explain why the index differs from raw go rate.</a:t>
            </a:r>
            <a:endParaRPr lang="en-US" sz="1220" dirty="0"/>
          </a:p>
        </p:txBody>
      </p:sp>
      <p:sp>
        <p:nvSpPr>
          <p:cNvPr id="12" name="Shape 10"/>
          <p:cNvSpPr/>
          <p:nvPr/>
        </p:nvSpPr>
        <p:spPr>
          <a:xfrm>
            <a:off x="685800" y="4590288"/>
            <a:ext cx="4251960" cy="713232"/>
          </a:xfrm>
          <a:prstGeom prst="roundRect">
            <a:avLst>
              <a:gd name="adj" fmla="val 10256"/>
            </a:avLst>
          </a:prstGeom>
          <a:solidFill>
            <a:srgbClr val="152D4B"/>
          </a:solidFill>
          <a:ln w="13970">
            <a:solidFill>
              <a:srgbClr val="C99700">
                <a:alpha val="85000"/>
              </a:srgbClr>
            </a:solidFill>
            <a:prstDash val="solid"/>
          </a:ln>
        </p:spPr>
      </p:sp>
      <p:sp>
        <p:nvSpPr>
          <p:cNvPr id="13" name="Text 11"/>
          <p:cNvSpPr/>
          <p:nvPr/>
        </p:nvSpPr>
        <p:spPr>
          <a:xfrm>
            <a:off x="850392" y="4718304"/>
            <a:ext cx="3922776" cy="201168"/>
          </a:xfrm>
          <a:prstGeom prst="rect">
            <a:avLst/>
          </a:prstGeom>
          <a:noFill/>
          <a:ln/>
        </p:spPr>
        <p:txBody>
          <a:bodyPr wrap="square" lIns="0" tIns="0" rIns="0" bIns="0" rtlCol="0" anchor="ctr"/>
          <a:lstStyle/>
          <a:p>
            <a:pPr indent="0" marL="0">
              <a:buNone/>
            </a:pPr>
            <a:r>
              <a:rPr lang="en-US" sz="870" b="1" dirty="0">
                <a:solidFill>
                  <a:srgbClr val="C99700"/>
                </a:solidFill>
              </a:rPr>
              <a:t>IMPLICATION</a:t>
            </a:r>
            <a:endParaRPr lang="en-US" sz="870" dirty="0"/>
          </a:p>
        </p:txBody>
      </p:sp>
      <p:sp>
        <p:nvSpPr>
          <p:cNvPr id="14" name="Text 12"/>
          <p:cNvSpPr/>
          <p:nvPr/>
        </p:nvSpPr>
        <p:spPr>
          <a:xfrm>
            <a:off x="850392" y="4974336"/>
            <a:ext cx="392277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This makes team comparisons more defensible.</a:t>
            </a:r>
            <a:endParaRPr lang="en-US" sz="1220" dirty="0"/>
          </a:p>
        </p:txBody>
      </p:sp>
      <p:sp>
        <p:nvSpPr>
          <p:cNvPr id="15" name="Shape 13"/>
          <p:cNvSpPr/>
          <p:nvPr/>
        </p:nvSpPr>
        <p:spPr>
          <a:xfrm>
            <a:off x="5184648" y="1280160"/>
            <a:ext cx="6501384" cy="3941064"/>
          </a:xfrm>
          <a:prstGeom prst="roundRect">
            <a:avLst/>
          </a:prstGeom>
          <a:solidFill>
            <a:srgbClr val="FFFFFF"/>
          </a:solidFill>
          <a:ln w="6350">
            <a:solidFill>
              <a:srgbClr val="D0D7E2"/>
            </a:solidFill>
            <a:prstDash val="solid"/>
          </a:ln>
        </p:spPr>
      </p:sp>
      <p:pic>
        <p:nvPicPr>
          <p:cNvPr id="16" name="Image 0" descr="/mnt/data/extracted_pptx/ppt/media/image9.png">    </p:cNvPr>
          <p:cNvPicPr>
            <a:picLocks noChangeAspect="1"/>
          </p:cNvPicPr>
          <p:nvPr/>
        </p:nvPicPr>
        <p:blipFill>
          <a:blip r:embed="rId1"/>
          <a:stretch>
            <a:fillRect/>
          </a:stretch>
        </p:blipFill>
        <p:spPr>
          <a:xfrm>
            <a:off x="5257800" y="1527824"/>
            <a:ext cx="6355080" cy="344573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94360" y="109728"/>
            <a:ext cx="4114800" cy="164592"/>
          </a:xfrm>
          <a:prstGeom prst="rect">
            <a:avLst/>
          </a:prstGeom>
          <a:noFill/>
          <a:ln/>
        </p:spPr>
        <p:txBody>
          <a:bodyPr wrap="square" lIns="0" tIns="0" rIns="0" bIns="0" rtlCol="0" anchor="ctr"/>
          <a:lstStyle/>
          <a:p>
            <a:pPr indent="0" marL="0">
              <a:buNone/>
            </a:pPr>
            <a:r>
              <a:rPr lang="en-US" sz="750" b="1" dirty="0">
                <a:solidFill>
                  <a:srgbClr val="CCD6E0"/>
                </a:solidFill>
              </a:rPr>
              <a:t>CONCLUSION</a:t>
            </a:r>
            <a:endParaRPr lang="en-US" sz="750" dirty="0"/>
          </a:p>
        </p:txBody>
      </p:sp>
      <p:sp>
        <p:nvSpPr>
          <p:cNvPr id="3" name="Text 1"/>
          <p:cNvSpPr/>
          <p:nvPr/>
        </p:nvSpPr>
        <p:spPr>
          <a:xfrm>
            <a:off x="566928" y="310896"/>
            <a:ext cx="10881360" cy="384048"/>
          </a:xfrm>
          <a:prstGeom prst="rect">
            <a:avLst/>
          </a:prstGeom>
          <a:noFill/>
          <a:ln/>
        </p:spPr>
        <p:txBody>
          <a:bodyPr wrap="square" lIns="0" tIns="0" rIns="0" bIns="0" rtlCol="0" anchor="ctr">
            <a:normAutofit/>
          </a:bodyPr>
          <a:lstStyle/>
          <a:p>
            <a:pPr indent="0" marL="0">
              <a:buNone/>
            </a:pPr>
            <a:r>
              <a:rPr lang="en-US" sz="2350" b="1" dirty="0">
                <a:solidFill>
                  <a:srgbClr val="C99700"/>
                </a:solidFill>
                <a:latin typeface="Aptos Display" pitchFamily="34" charset="0"/>
                <a:ea typeface="Aptos Display" pitchFamily="34" charset="-122"/>
                <a:cs typeface="Aptos Display" pitchFamily="34" charset="-120"/>
              </a:rPr>
              <a:t>Key takeaways</a:t>
            </a:r>
            <a:endParaRPr lang="en-US" sz="2350" dirty="0"/>
          </a:p>
        </p:txBody>
      </p:sp>
      <p:sp>
        <p:nvSpPr>
          <p:cNvPr id="4" name="Text 2"/>
          <p:cNvSpPr/>
          <p:nvPr/>
        </p:nvSpPr>
        <p:spPr>
          <a:xfrm>
            <a:off x="585216" y="768096"/>
            <a:ext cx="10698480" cy="347472"/>
          </a:xfrm>
          <a:prstGeom prst="rect">
            <a:avLst/>
          </a:prstGeom>
          <a:noFill/>
          <a:ln/>
        </p:spPr>
        <p:txBody>
          <a:bodyPr wrap="square" lIns="0" tIns="0" rIns="0" bIns="0" rtlCol="0" anchor="ctr">
            <a:normAutofit/>
          </a:bodyPr>
          <a:lstStyle/>
          <a:p>
            <a:pPr indent="0" marL="0">
              <a:buNone/>
            </a:pPr>
            <a:r>
              <a:rPr lang="en-US" sz="1150" dirty="0">
                <a:solidFill>
                  <a:srgbClr val="FFFFFF"/>
                </a:solidFill>
                <a:latin typeface="Aptos" pitchFamily="34" charset="0"/>
                <a:ea typeface="Aptos" pitchFamily="34" charset="-122"/>
                <a:cs typeface="Aptos" pitchFamily="34" charset="-120"/>
              </a:rPr>
              <a:t>Version 1 establishes a clean foundation for future modeling.</a:t>
            </a:r>
            <a:endParaRPr lang="en-US" sz="1150" dirty="0"/>
          </a:p>
        </p:txBody>
      </p:sp>
      <p:sp>
        <p:nvSpPr>
          <p:cNvPr id="5" name="Shape 3"/>
          <p:cNvSpPr/>
          <p:nvPr/>
        </p:nvSpPr>
        <p:spPr>
          <a:xfrm>
            <a:off x="548640" y="6364224"/>
            <a:ext cx="11109960" cy="0"/>
          </a:xfrm>
          <a:prstGeom prst="line">
            <a:avLst/>
          </a:prstGeom>
          <a:noFill/>
          <a:ln w="10160">
            <a:solidFill>
              <a:srgbClr val="C99700">
                <a:alpha val="80000"/>
              </a:srgbClr>
            </a:solidFill>
            <a:prstDash val="solid"/>
          </a:ln>
        </p:spPr>
      </p:sp>
      <p:sp>
        <p:nvSpPr>
          <p:cNvPr id="6" name="Text 4"/>
          <p:cNvSpPr/>
          <p:nvPr/>
        </p:nvSpPr>
        <p:spPr>
          <a:xfrm>
            <a:off x="594360" y="6446520"/>
            <a:ext cx="9875520" cy="201168"/>
          </a:xfrm>
          <a:prstGeom prst="rect">
            <a:avLst/>
          </a:prstGeom>
          <a:noFill/>
          <a:ln/>
        </p:spPr>
        <p:txBody>
          <a:bodyPr wrap="square" lIns="0" tIns="0" rIns="0" bIns="0" rtlCol="0" anchor="ctr"/>
          <a:lstStyle/>
          <a:p>
            <a:pPr indent="0" marL="0">
              <a:buNone/>
            </a:pPr>
            <a:r>
              <a:rPr lang="en-US" sz="780" dirty="0">
                <a:solidFill>
                  <a:srgbClr val="D6DEE8"/>
                </a:solidFill>
                <a:latin typeface="Aptos" pitchFamily="34" charset="0"/>
                <a:ea typeface="Aptos" pitchFamily="34" charset="-122"/>
                <a:cs typeface="Aptos" pitchFamily="34" charset="-120"/>
              </a:rPr>
              <a:t>2023–2025 FBS play-by-play • CollegeFootballData • Fourth-down decisions only</a:t>
            </a:r>
            <a:endParaRPr lang="en-US" sz="780" dirty="0"/>
          </a:p>
        </p:txBody>
      </p:sp>
      <p:sp>
        <p:nvSpPr>
          <p:cNvPr id="7" name="Text 5"/>
          <p:cNvSpPr/>
          <p:nvPr/>
        </p:nvSpPr>
        <p:spPr>
          <a:xfrm>
            <a:off x="11201400" y="6419088"/>
            <a:ext cx="457200" cy="228600"/>
          </a:xfrm>
          <a:prstGeom prst="rect">
            <a:avLst/>
          </a:prstGeom>
          <a:noFill/>
          <a:ln/>
        </p:spPr>
        <p:txBody>
          <a:bodyPr wrap="square" lIns="0" tIns="0" rIns="0" bIns="0" rtlCol="0" anchor="ctr"/>
          <a:lstStyle/>
          <a:p>
            <a:pPr algn="r" indent="0" marL="0">
              <a:buNone/>
            </a:pPr>
            <a:r>
              <a:rPr lang="en-US" sz="800" b="1" dirty="0">
                <a:solidFill>
                  <a:srgbClr val="C99700"/>
                </a:solidFill>
                <a:latin typeface="Aptos" pitchFamily="34" charset="0"/>
                <a:ea typeface="Aptos" pitchFamily="34" charset="-122"/>
                <a:cs typeface="Aptos" pitchFamily="34" charset="-120"/>
              </a:rPr>
              <a:t>13</a:t>
            </a:r>
            <a:endParaRPr lang="en-US" sz="800" dirty="0"/>
          </a:p>
        </p:txBody>
      </p:sp>
      <p:sp>
        <p:nvSpPr>
          <p:cNvPr id="8" name="Text 6"/>
          <p:cNvSpPr/>
          <p:nvPr/>
        </p:nvSpPr>
        <p:spPr>
          <a:xfrm>
            <a:off x="685800" y="1417320"/>
            <a:ext cx="10515600" cy="2011680"/>
          </a:xfrm>
          <a:prstGeom prst="rect">
            <a:avLst/>
          </a:prstGeom>
          <a:noFill/>
          <a:ln/>
        </p:spPr>
        <p:txBody>
          <a:bodyPr wrap="square" lIns="635" tIns="635" rIns="635" bIns="635" rtlCol="0" anchor="t">
            <a:normAutofit/>
          </a:bodyPr>
          <a:lstStyle/>
          <a:p>
            <a:pPr indent="0" marL="0">
              <a:buNone/>
            </a:pPr>
            <a:r>
              <a:rPr lang="en-US" sz="1280" dirty="0">
                <a:solidFill>
                  <a:srgbClr val="FFFFFF"/>
                </a:solidFill>
                <a:latin typeface="Aptos" pitchFamily="34" charset="0"/>
                <a:ea typeface="Aptos" pitchFamily="34" charset="-122"/>
                <a:cs typeface="Aptos" pitchFamily="34" charset="-120"/>
              </a:rPr>
              <a:t>• Distance is the strongest visible driver of fourth-down decisions.
</a:t>
            </a:r>
            <a:pPr indent="0" marL="0">
              <a:buNone/>
            </a:pPr>
            <a:r>
              <a:rPr lang="en-US" sz="1280" dirty="0">
                <a:solidFill>
                  <a:srgbClr val="FFFFFF"/>
                </a:solidFill>
                <a:latin typeface="Aptos" pitchFamily="34" charset="0"/>
                <a:ea typeface="Aptos" pitchFamily="34" charset="-122"/>
                <a:cs typeface="Aptos" pitchFamily="34" charset="-120"/>
              </a:rPr>
              <a:t>• Field position sharply changes coaching behavior, especially in midfield.
</a:t>
            </a:r>
            <a:pPr indent="0" marL="0">
              <a:buNone/>
            </a:pPr>
            <a:r>
              <a:rPr lang="en-US" sz="1280" dirty="0">
                <a:solidFill>
                  <a:srgbClr val="FFFFFF"/>
                </a:solidFill>
                <a:latin typeface="Aptos" pitchFamily="34" charset="0"/>
                <a:ea typeface="Aptos" pitchFamily="34" charset="-122"/>
                <a:cs typeface="Aptos" pitchFamily="34" charset="-120"/>
              </a:rPr>
              <a:t>• Notre Dame is more aggressive than average in short-yardage and midfield situations.
</a:t>
            </a:r>
            <a:pPr indent="0" marL="0">
              <a:buNone/>
            </a:pPr>
            <a:r>
              <a:rPr lang="en-US" sz="1280" dirty="0">
                <a:solidFill>
                  <a:srgbClr val="FFFFFF"/>
                </a:solidFill>
                <a:latin typeface="Aptos" pitchFamily="34" charset="0"/>
                <a:ea typeface="Aptos" pitchFamily="34" charset="-122"/>
                <a:cs typeface="Aptos" pitchFamily="34" charset="-120"/>
              </a:rPr>
              <a:t>• The Aggressiveness Index shows Notre Dame as modestly above expectation, not an extreme outlier.
</a:t>
            </a:r>
            <a:pPr indent="0" marL="0">
              <a:buNone/>
            </a:pPr>
            <a:r>
              <a:rPr lang="en-US" sz="1280" dirty="0">
                <a:solidFill>
                  <a:srgbClr val="FFFFFF"/>
                </a:solidFill>
                <a:latin typeface="Aptos" pitchFamily="34" charset="0"/>
                <a:ea typeface="Aptos" pitchFamily="34" charset="-122"/>
                <a:cs typeface="Aptos" pitchFamily="34" charset="-120"/>
              </a:rPr>
              <a:t>• Version 1 can extend naturally into expected value, machine learning, or a decision-support dashboard.</a:t>
            </a:r>
            <a:endParaRPr lang="en-US" sz="1280" dirty="0"/>
          </a:p>
        </p:txBody>
      </p:sp>
      <p:sp>
        <p:nvSpPr>
          <p:cNvPr id="9" name="Shape 7"/>
          <p:cNvSpPr/>
          <p:nvPr/>
        </p:nvSpPr>
        <p:spPr>
          <a:xfrm>
            <a:off x="685800" y="3794760"/>
            <a:ext cx="5074920" cy="713232"/>
          </a:xfrm>
          <a:prstGeom prst="roundRect">
            <a:avLst>
              <a:gd name="adj" fmla="val 10256"/>
            </a:avLst>
          </a:prstGeom>
          <a:solidFill>
            <a:srgbClr val="152D4B"/>
          </a:solidFill>
          <a:ln w="13970">
            <a:solidFill>
              <a:srgbClr val="C99700">
                <a:alpha val="85000"/>
              </a:srgbClr>
            </a:solidFill>
            <a:prstDash val="solid"/>
          </a:ln>
        </p:spPr>
      </p:sp>
      <p:sp>
        <p:nvSpPr>
          <p:cNvPr id="10" name="Text 8"/>
          <p:cNvSpPr/>
          <p:nvPr/>
        </p:nvSpPr>
        <p:spPr>
          <a:xfrm>
            <a:off x="850392" y="3922776"/>
            <a:ext cx="4745736" cy="201168"/>
          </a:xfrm>
          <a:prstGeom prst="rect">
            <a:avLst/>
          </a:prstGeom>
          <a:noFill/>
          <a:ln/>
        </p:spPr>
        <p:txBody>
          <a:bodyPr wrap="square" lIns="0" tIns="0" rIns="0" bIns="0" rtlCol="0" anchor="ctr"/>
          <a:lstStyle/>
          <a:p>
            <a:pPr indent="0" marL="0">
              <a:buNone/>
            </a:pPr>
            <a:r>
              <a:rPr lang="en-US" sz="870" b="1" dirty="0">
                <a:solidFill>
                  <a:srgbClr val="C99700"/>
                </a:solidFill>
              </a:rPr>
              <a:t>INSIGHT</a:t>
            </a:r>
            <a:endParaRPr lang="en-US" sz="870" dirty="0"/>
          </a:p>
        </p:txBody>
      </p:sp>
      <p:sp>
        <p:nvSpPr>
          <p:cNvPr id="11" name="Text 9"/>
          <p:cNvSpPr/>
          <p:nvPr/>
        </p:nvSpPr>
        <p:spPr>
          <a:xfrm>
            <a:off x="850392" y="4178808"/>
            <a:ext cx="474573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The story is not “always go for it.” It is “identify where behavior diverges from opportunity.”</a:t>
            </a:r>
            <a:endParaRPr lang="en-US" sz="1220" dirty="0"/>
          </a:p>
        </p:txBody>
      </p:sp>
      <p:sp>
        <p:nvSpPr>
          <p:cNvPr id="12" name="Shape 10"/>
          <p:cNvSpPr/>
          <p:nvPr/>
        </p:nvSpPr>
        <p:spPr>
          <a:xfrm>
            <a:off x="6172200" y="3794760"/>
            <a:ext cx="5074920" cy="713232"/>
          </a:xfrm>
          <a:prstGeom prst="roundRect">
            <a:avLst>
              <a:gd name="adj" fmla="val 10256"/>
            </a:avLst>
          </a:prstGeom>
          <a:solidFill>
            <a:srgbClr val="152D4B"/>
          </a:solidFill>
          <a:ln w="13970">
            <a:solidFill>
              <a:srgbClr val="C99700">
                <a:alpha val="85000"/>
              </a:srgbClr>
            </a:solidFill>
            <a:prstDash val="solid"/>
          </a:ln>
        </p:spPr>
      </p:sp>
      <p:sp>
        <p:nvSpPr>
          <p:cNvPr id="13" name="Text 11"/>
          <p:cNvSpPr/>
          <p:nvPr/>
        </p:nvSpPr>
        <p:spPr>
          <a:xfrm>
            <a:off x="6336792" y="3922776"/>
            <a:ext cx="4745736" cy="201168"/>
          </a:xfrm>
          <a:prstGeom prst="rect">
            <a:avLst/>
          </a:prstGeom>
          <a:noFill/>
          <a:ln/>
        </p:spPr>
        <p:txBody>
          <a:bodyPr wrap="square" lIns="0" tIns="0" rIns="0" bIns="0" rtlCol="0" anchor="ctr"/>
          <a:lstStyle/>
          <a:p>
            <a:pPr indent="0" marL="0">
              <a:buNone/>
            </a:pPr>
            <a:r>
              <a:rPr lang="en-US" sz="870" b="1" dirty="0">
                <a:solidFill>
                  <a:srgbClr val="C99700"/>
                </a:solidFill>
              </a:rPr>
              <a:t>IMPLICATION</a:t>
            </a:r>
            <a:endParaRPr lang="en-US" sz="870" dirty="0"/>
          </a:p>
        </p:txBody>
      </p:sp>
      <p:sp>
        <p:nvSpPr>
          <p:cNvPr id="14" name="Text 12"/>
          <p:cNvSpPr/>
          <p:nvPr/>
        </p:nvSpPr>
        <p:spPr>
          <a:xfrm>
            <a:off x="6336792" y="4178808"/>
            <a:ext cx="4745736" cy="274320"/>
          </a:xfrm>
          <a:prstGeom prst="rect">
            <a:avLst/>
          </a:prstGeom>
          <a:noFill/>
          <a:ln/>
        </p:spPr>
        <p:txBody>
          <a:bodyPr wrap="square" lIns="0" tIns="0" rIns="0" bIns="0" rtlCol="0" anchor="ctr">
            <a:normAutofit/>
          </a:bodyPr>
          <a:lstStyle/>
          <a:p>
            <a:pPr indent="0" marL="0">
              <a:buNone/>
            </a:pPr>
            <a:r>
              <a:rPr lang="en-US" sz="1220" dirty="0">
                <a:solidFill>
                  <a:srgbClr val="FFFFFF"/>
                </a:solidFill>
              </a:rPr>
              <a:t>A finished Version 1 creates a credible base for deeper analytics later.</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Fourth-Down Decision-Making in College Football</dc:title>
  <dc:subject>Fourth-down decision-making in college football</dc:subject>
  <dc:creator>OpenAI</dc:creator>
  <cp:lastModifiedBy>OpenAI</cp:lastModifiedBy>
  <cp:revision>1</cp:revision>
  <dcterms:created xsi:type="dcterms:W3CDTF">2026-07-01T00:53:41Z</dcterms:created>
  <dcterms:modified xsi:type="dcterms:W3CDTF">2026-07-01T00:53:41Z</dcterms:modified>
</cp:coreProperties>
</file>